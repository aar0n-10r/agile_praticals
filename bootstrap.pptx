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95" r:id="rId3"/>
    <p:sldId id="296" r:id="rId4"/>
    <p:sldId id="297" r:id="rId5"/>
    <p:sldId id="298" r:id="rId6"/>
    <p:sldId id="300" r:id="rId7"/>
    <p:sldId id="299" r:id="rId8"/>
    <p:sldId id="264" r:id="rId9"/>
    <p:sldId id="265" r:id="rId10"/>
    <p:sldId id="302" r:id="rId11"/>
    <p:sldId id="266" r:id="rId12"/>
    <p:sldId id="267" r:id="rId13"/>
    <p:sldId id="303" r:id="rId14"/>
    <p:sldId id="304" r:id="rId15"/>
    <p:sldId id="305" r:id="rId16"/>
    <p:sldId id="306" r:id="rId17"/>
    <p:sldId id="270" r:id="rId18"/>
    <p:sldId id="307" r:id="rId19"/>
    <p:sldId id="309" r:id="rId20"/>
    <p:sldId id="327" r:id="rId21"/>
    <p:sldId id="310" r:id="rId22"/>
    <p:sldId id="313" r:id="rId23"/>
    <p:sldId id="257" r:id="rId24"/>
    <p:sldId id="259" r:id="rId25"/>
    <p:sldId id="261" r:id="rId26"/>
    <p:sldId id="262" r:id="rId27"/>
    <p:sldId id="272" r:id="rId28"/>
    <p:sldId id="328" r:id="rId29"/>
    <p:sldId id="273" r:id="rId30"/>
    <p:sldId id="275" r:id="rId31"/>
    <p:sldId id="276" r:id="rId32"/>
    <p:sldId id="277" r:id="rId33"/>
    <p:sldId id="280" r:id="rId34"/>
    <p:sldId id="314" r:id="rId35"/>
    <p:sldId id="329" r:id="rId36"/>
    <p:sldId id="281" r:id="rId37"/>
    <p:sldId id="282" r:id="rId38"/>
    <p:sldId id="318" r:id="rId39"/>
    <p:sldId id="319" r:id="rId40"/>
    <p:sldId id="286" r:id="rId41"/>
    <p:sldId id="287" r:id="rId42"/>
    <p:sldId id="288" r:id="rId43"/>
    <p:sldId id="289" r:id="rId44"/>
    <p:sldId id="316" r:id="rId45"/>
    <p:sldId id="330" r:id="rId46"/>
    <p:sldId id="317" r:id="rId47"/>
    <p:sldId id="321" r:id="rId48"/>
    <p:sldId id="322" r:id="rId49"/>
    <p:sldId id="323" r:id="rId50"/>
    <p:sldId id="320" r:id="rId51"/>
    <p:sldId id="324" r:id="rId52"/>
    <p:sldId id="325" r:id="rId53"/>
    <p:sldId id="326" r:id="rId54"/>
    <p:sldId id="331"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41" autoAdjust="0"/>
  </p:normalViewPr>
  <p:slideViewPr>
    <p:cSldViewPr snapToGrid="0">
      <p:cViewPr varScale="1">
        <p:scale>
          <a:sx n="70" d="100"/>
          <a:sy n="70" d="100"/>
        </p:scale>
        <p:origin x="660"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3C510-9232-99C8-899B-445610B034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1DD4DB-A39A-EFD6-2971-BD2C0BF80A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304B515-E204-8D34-4AF5-1D5DFFA1D913}"/>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5" name="Footer Placeholder 4">
            <a:extLst>
              <a:ext uri="{FF2B5EF4-FFF2-40B4-BE49-F238E27FC236}">
                <a16:creationId xmlns:a16="http://schemas.microsoft.com/office/drawing/2014/main" id="{AF2822B7-D4E5-5D5D-792B-F2DF0C6983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E6802E-C59A-4C58-6BF8-02E5E522E72B}"/>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3829558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008B-5B6F-B80E-8964-443161E2D9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9168DE-9A75-A617-5F25-82666BBE36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D4155B-DC15-7710-DA7D-A731C2213FDB}"/>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5" name="Footer Placeholder 4">
            <a:extLst>
              <a:ext uri="{FF2B5EF4-FFF2-40B4-BE49-F238E27FC236}">
                <a16:creationId xmlns:a16="http://schemas.microsoft.com/office/drawing/2014/main" id="{39311EEC-AC8C-6EDF-27A4-F803D8FB6E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88AF0E-ACDC-9E9B-35F3-AFA7D2382E2F}"/>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1058821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438D1-D317-EB00-BD39-F4B6534219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F993C7-7371-14D1-0C9E-ABAAC48FBA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7E7363-BBBD-DE98-7E00-CBB0730856F1}"/>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5" name="Footer Placeholder 4">
            <a:extLst>
              <a:ext uri="{FF2B5EF4-FFF2-40B4-BE49-F238E27FC236}">
                <a16:creationId xmlns:a16="http://schemas.microsoft.com/office/drawing/2014/main" id="{5B57F340-4F3C-9376-7131-584F2B827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8A4BC1-3D79-63E1-EBB3-BCBEFF6B5DED}"/>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1195097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2084-1B0E-64FE-B3CB-1E9C56F1F0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B30733-94F3-56EC-C915-47F1F53964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0888EF-CF12-596F-F829-8078F96F4C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608FEC-6406-57DD-6C73-68377AEFBC0B}"/>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6" name="Footer Placeholder 5">
            <a:extLst>
              <a:ext uri="{FF2B5EF4-FFF2-40B4-BE49-F238E27FC236}">
                <a16:creationId xmlns:a16="http://schemas.microsoft.com/office/drawing/2014/main" id="{175B8FAF-24FB-68C6-D631-322863DA44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195834-B9CD-1ECA-5E63-0123AF471048}"/>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1886685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E78E1-5BB9-FDD6-2CF1-7F245A0EE5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0B6259-D1F4-A47B-EAFA-F9356A499B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C572D1-1740-B69B-D2C7-73BF95F7CF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949FD1D-899D-5EE9-DBB7-B722DE48A2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188F7C-588F-E43B-5851-05DD52F401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A5C5B1-F352-6261-D490-F609157ADBF2}"/>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8" name="Footer Placeholder 7">
            <a:extLst>
              <a:ext uri="{FF2B5EF4-FFF2-40B4-BE49-F238E27FC236}">
                <a16:creationId xmlns:a16="http://schemas.microsoft.com/office/drawing/2014/main" id="{71184BCC-9463-DB41-236C-569E40D257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04AA8E-7622-82CC-1702-4A2CE452B098}"/>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39578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C1F8-F94C-2DE9-8FB6-1C53C2083C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976353-5F40-0AE0-146C-EDB3CB52E832}"/>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4" name="Footer Placeholder 3">
            <a:extLst>
              <a:ext uri="{FF2B5EF4-FFF2-40B4-BE49-F238E27FC236}">
                <a16:creationId xmlns:a16="http://schemas.microsoft.com/office/drawing/2014/main" id="{77A2F156-98D5-0642-1D3C-0DB227439A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17A37B-D144-6CFD-F0A6-0458ED2F3C1D}"/>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2375542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9C161-27A2-6552-F90E-E05EE987F860}"/>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3" name="Footer Placeholder 2">
            <a:extLst>
              <a:ext uri="{FF2B5EF4-FFF2-40B4-BE49-F238E27FC236}">
                <a16:creationId xmlns:a16="http://schemas.microsoft.com/office/drawing/2014/main" id="{4A16F262-2060-11FD-1A64-FD7803CE64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CD6537-8C84-13FE-5FB0-42D45DE18B00}"/>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476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31C5-69D9-CC22-454B-1F6F02729E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2C9FF8-7DF1-FA35-A555-014DAB09D2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27D208D-6D73-55EB-B362-515C6BF1F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7C0037-05D1-C076-50E1-12B2AC5061D1}"/>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6" name="Footer Placeholder 5">
            <a:extLst>
              <a:ext uri="{FF2B5EF4-FFF2-40B4-BE49-F238E27FC236}">
                <a16:creationId xmlns:a16="http://schemas.microsoft.com/office/drawing/2014/main" id="{3EEED767-DE2C-C52B-2BE5-A62739AB6A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A72F2D-58C6-0EED-F23C-FA16C2958E7A}"/>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3282666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5C8B-A8AD-6030-6E90-D6DCEE9F18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05DB38-2269-9C49-9857-9E95CFAC89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99F39-2096-5F82-33EE-E016B41AA7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B6EE1B-4D15-DA84-679F-D372BB18FCC1}"/>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6" name="Footer Placeholder 5">
            <a:extLst>
              <a:ext uri="{FF2B5EF4-FFF2-40B4-BE49-F238E27FC236}">
                <a16:creationId xmlns:a16="http://schemas.microsoft.com/office/drawing/2014/main" id="{6FFA706D-F8C5-3539-DB00-0929ED657D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E838E4-3225-6F5B-77FB-C7FB35478EA3}"/>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379476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F044-5145-4D19-A55E-CF8085FF16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F2C6FB-125F-C9C4-33E0-A6AF74B4CD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A58A20-551D-2693-36D1-F000B2F6BB2E}"/>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5" name="Footer Placeholder 4">
            <a:extLst>
              <a:ext uri="{FF2B5EF4-FFF2-40B4-BE49-F238E27FC236}">
                <a16:creationId xmlns:a16="http://schemas.microsoft.com/office/drawing/2014/main" id="{06FE250B-C3F5-2177-2F33-018C46B8AE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36144E-A2C1-5950-D53F-72EFE9639409}"/>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418772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77A46-36A4-1E1A-54D9-78364E59DE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B4640A-CF2A-14BB-540F-2E1ECAA12D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89B9BE-F67E-3425-8121-89ECD7CCCEE1}"/>
              </a:ext>
            </a:extLst>
          </p:cNvPr>
          <p:cNvSpPr>
            <a:spLocks noGrp="1"/>
          </p:cNvSpPr>
          <p:nvPr>
            <p:ph type="dt" sz="half" idx="10"/>
          </p:nvPr>
        </p:nvSpPr>
        <p:spPr/>
        <p:txBody>
          <a:bodyPr/>
          <a:lstStyle/>
          <a:p>
            <a:fld id="{1A5E642C-B001-4B10-8479-955ED46650B6}" type="datetimeFigureOut">
              <a:rPr lang="en-IN" smtClean="0"/>
              <a:pPr/>
              <a:t>09-02-2026</a:t>
            </a:fld>
            <a:endParaRPr lang="en-IN"/>
          </a:p>
        </p:txBody>
      </p:sp>
      <p:sp>
        <p:nvSpPr>
          <p:cNvPr id="5" name="Footer Placeholder 4">
            <a:extLst>
              <a:ext uri="{FF2B5EF4-FFF2-40B4-BE49-F238E27FC236}">
                <a16:creationId xmlns:a16="http://schemas.microsoft.com/office/drawing/2014/main" id="{AAFA49BE-0CF0-893E-E0E1-637C15B020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63074E-F2AE-D27C-A87B-790E0C052462}"/>
              </a:ext>
            </a:extLst>
          </p:cNvPr>
          <p:cNvSpPr>
            <a:spLocks noGrp="1"/>
          </p:cNvSpPr>
          <p:nvPr>
            <p:ph type="sldNum" sz="quarter" idx="12"/>
          </p:nvPr>
        </p:nvSpPr>
        <p:spPr/>
        <p:txBody>
          <a:bodyPr/>
          <a:lstStyle/>
          <a:p>
            <a:fld id="{F1C1FB51-F0F7-41ED-B189-AFB2D4439747}" type="slidenum">
              <a:rPr lang="en-IN" smtClean="0"/>
              <a:pPr/>
              <a:t>‹#›</a:t>
            </a:fld>
            <a:endParaRPr lang="en-IN"/>
          </a:p>
        </p:txBody>
      </p:sp>
    </p:spTree>
    <p:extLst>
      <p:ext uri="{BB962C8B-B14F-4D97-AF65-F5344CB8AC3E}">
        <p14:creationId xmlns:p14="http://schemas.microsoft.com/office/powerpoint/2010/main" val="3568371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8450B2-041E-6EC0-2A53-3849C74EAC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AD69F8-F84A-64CD-FC62-43B41227D5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C61A5E-C56D-0AC5-A700-9D05252EDD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5E642C-B001-4B10-8479-955ED46650B6}" type="datetimeFigureOut">
              <a:rPr lang="en-IN" smtClean="0"/>
              <a:pPr/>
              <a:t>09-02-2026</a:t>
            </a:fld>
            <a:endParaRPr lang="en-IN"/>
          </a:p>
        </p:txBody>
      </p:sp>
      <p:sp>
        <p:nvSpPr>
          <p:cNvPr id="5" name="Footer Placeholder 4">
            <a:extLst>
              <a:ext uri="{FF2B5EF4-FFF2-40B4-BE49-F238E27FC236}">
                <a16:creationId xmlns:a16="http://schemas.microsoft.com/office/drawing/2014/main" id="{7B715C5A-68DE-59DF-8059-418CE595F8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0406A93-3788-6C5D-C762-6F23C69090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C1FB51-F0F7-41ED-B189-AFB2D4439747}" type="slidenum">
              <a:rPr lang="en-IN" smtClean="0"/>
              <a:pPr/>
              <a:t>‹#›</a:t>
            </a:fld>
            <a:endParaRPr lang="en-IN"/>
          </a:p>
        </p:txBody>
      </p:sp>
    </p:spTree>
    <p:extLst>
      <p:ext uri="{BB962C8B-B14F-4D97-AF65-F5344CB8AC3E}">
        <p14:creationId xmlns:p14="http://schemas.microsoft.com/office/powerpoint/2010/main" val="2915168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a:t>
            </a:r>
            <a:endParaRPr lang="en-IN" dirty="0"/>
          </a:p>
        </p:txBody>
      </p:sp>
      <p:sp>
        <p:nvSpPr>
          <p:cNvPr id="3" name="Content Placeholder 2"/>
          <p:cNvSpPr>
            <a:spLocks noGrp="1"/>
          </p:cNvSpPr>
          <p:nvPr>
            <p:ph idx="1"/>
          </p:nvPr>
        </p:nvSpPr>
        <p:spPr>
          <a:xfrm>
            <a:off x="838200" y="1371600"/>
            <a:ext cx="10515600" cy="4805363"/>
          </a:xfrm>
        </p:spPr>
        <p:txBody>
          <a:bodyPr/>
          <a:lstStyle/>
          <a:p>
            <a:pPr algn="ctr">
              <a:buNone/>
            </a:pPr>
            <a:r>
              <a:rPr lang="en-US" dirty="0" smtClean="0"/>
              <a:t>BOOTSTRAP =</a:t>
            </a:r>
          </a:p>
          <a:p>
            <a:pPr algn="ctr">
              <a:buNone/>
            </a:pPr>
            <a:r>
              <a:rPr lang="en-US" dirty="0" smtClean="0"/>
              <a:t>(GRID SYSTEM + CLASSES+ COMPONENTS)</a:t>
            </a:r>
          </a:p>
          <a:p>
            <a:endParaRPr lang="en-US"/>
          </a:p>
          <a:p>
            <a:r>
              <a:rPr lang="en-US" smtClean="0"/>
              <a:t>Grid </a:t>
            </a:r>
            <a:r>
              <a:rPr lang="en-US" dirty="0" smtClean="0"/>
              <a:t>system- gives responsiveness</a:t>
            </a:r>
          </a:p>
          <a:p>
            <a:r>
              <a:rPr lang="en-US" dirty="0" smtClean="0"/>
              <a:t>Classes (</a:t>
            </a:r>
            <a:r>
              <a:rPr lang="en-US" dirty="0" err="1" smtClean="0"/>
              <a:t>img</a:t>
            </a:r>
            <a:r>
              <a:rPr lang="en-US" dirty="0"/>
              <a:t>-</a:t>
            </a:r>
            <a:r>
              <a:rPr lang="en-US" dirty="0" smtClean="0"/>
              <a:t>fluid)</a:t>
            </a:r>
          </a:p>
          <a:p>
            <a:r>
              <a:rPr lang="en-US" dirty="0" smtClean="0"/>
              <a:t>Components – buttons, form, alert, pagination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web application responsive</a:t>
            </a:r>
            <a:endParaRPr lang="en-IN" dirty="0"/>
          </a:p>
        </p:txBody>
      </p:sp>
      <p:sp>
        <p:nvSpPr>
          <p:cNvPr id="3" name="Content Placeholder 2"/>
          <p:cNvSpPr>
            <a:spLocks noGrp="1"/>
          </p:cNvSpPr>
          <p:nvPr>
            <p:ph idx="1"/>
          </p:nvPr>
        </p:nvSpPr>
        <p:spPr/>
        <p:txBody>
          <a:bodyPr/>
          <a:lstStyle/>
          <a:p>
            <a:r>
              <a:rPr lang="en-US" dirty="0" smtClean="0"/>
              <a:t>Bootstrap is the most popular HTML, CSS, and JavaScript framework for developing responsive, mobile-first web sites.</a:t>
            </a:r>
          </a:p>
          <a:p>
            <a:r>
              <a:rPr lang="en-US" dirty="0" smtClean="0"/>
              <a:t>Bootstrap is completely free to download and use!</a:t>
            </a:r>
          </a:p>
          <a:p>
            <a:endParaRPr lang="en-IN" dirty="0"/>
          </a:p>
        </p:txBody>
      </p:sp>
      <p:pic>
        <p:nvPicPr>
          <p:cNvPr id="7" name="Picture 2" descr="C:\Users\user\Downloads\download.png"/>
          <p:cNvPicPr>
            <a:picLocks noChangeAspect="1" noChangeArrowheads="1"/>
          </p:cNvPicPr>
          <p:nvPr/>
        </p:nvPicPr>
        <p:blipFill>
          <a:blip r:embed="rId2"/>
          <a:srcRect/>
          <a:stretch>
            <a:fillRect/>
          </a:stretch>
        </p:blipFill>
        <p:spPr bwMode="auto">
          <a:xfrm>
            <a:off x="476211" y="4500570"/>
            <a:ext cx="7821892" cy="1843108"/>
          </a:xfrm>
          <a:prstGeom prst="rect">
            <a:avLst/>
          </a:prstGeom>
          <a:noFill/>
        </p:spPr>
      </p:pic>
      <p:pic>
        <p:nvPicPr>
          <p:cNvPr id="8" name="Picture 2" descr="C:\Users\user\Downloads\images.png"/>
          <p:cNvPicPr>
            <a:picLocks noChangeAspect="1" noChangeArrowheads="1"/>
          </p:cNvPicPr>
          <p:nvPr/>
        </p:nvPicPr>
        <p:blipFill>
          <a:blip r:embed="rId3"/>
          <a:srcRect l="18961" t="11111" r="18417"/>
          <a:stretch>
            <a:fillRect/>
          </a:stretch>
        </p:blipFill>
        <p:spPr bwMode="auto">
          <a:xfrm>
            <a:off x="8477199" y="3842590"/>
            <a:ext cx="3238591" cy="2586806"/>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Bootstrap is a free front-end framework for faster and easier web development.</a:t>
            </a:r>
          </a:p>
          <a:p>
            <a:pPr>
              <a:buNone/>
            </a:pPr>
            <a:endParaRPr lang="en-US" dirty="0" smtClean="0"/>
          </a:p>
          <a:p>
            <a:r>
              <a:rPr lang="en-US" dirty="0" smtClean="0"/>
              <a:t>Bootstrap includes HTML and CSS based design templates for typography, forms, buttons, tables, navigation, modals, image carousels and many other, as well as optional JavaScript plug-in</a:t>
            </a:r>
          </a:p>
          <a:p>
            <a:endParaRPr lang="en-US" dirty="0" smtClean="0"/>
          </a:p>
          <a:p>
            <a:r>
              <a:rPr lang="en-US" dirty="0" smtClean="0"/>
              <a:t>Bootstrap also gives you the ability to easily create responsive designs.</a:t>
            </a:r>
          </a:p>
          <a:p>
            <a:endParaRPr lang="en-US" dirty="0" smtClean="0"/>
          </a:p>
          <a:p>
            <a:r>
              <a:rPr lang="en-US" dirty="0" smtClean="0"/>
              <a:t>Responsive web design is about creating web sites which automatically adjust themselves to look good on all devices, from small phones to large desktops.</a:t>
            </a:r>
          </a:p>
          <a:p>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a:t>
            </a:r>
            <a:endParaRPr lang="en-IN" dirty="0"/>
          </a:p>
        </p:txBody>
      </p:sp>
      <p:sp>
        <p:nvSpPr>
          <p:cNvPr id="3" name="Content Placeholder 2"/>
          <p:cNvSpPr>
            <a:spLocks noGrp="1"/>
          </p:cNvSpPr>
          <p:nvPr>
            <p:ph idx="1"/>
          </p:nvPr>
        </p:nvSpPr>
        <p:spPr>
          <a:xfrm>
            <a:off x="38096" y="1285861"/>
            <a:ext cx="11010939" cy="4840303"/>
          </a:xfrm>
        </p:spPr>
        <p:txBody>
          <a:bodyPr/>
          <a:lstStyle/>
          <a:p>
            <a:pPr>
              <a:lnSpc>
                <a:spcPct val="80000"/>
              </a:lnSpc>
            </a:pPr>
            <a:r>
              <a:rPr lang="en-US" sz="2200" dirty="0"/>
              <a:t>A basic understanding of HTML is required to start learning Bootstrap. Some familiarity with how CSS works (CSS Selectors and Visual Rules) would be helpful,</a:t>
            </a:r>
          </a:p>
          <a:p>
            <a:pPr>
              <a:lnSpc>
                <a:spcPct val="80000"/>
              </a:lnSpc>
            </a:pPr>
            <a:endParaRPr lang="en-US" sz="2200" dirty="0"/>
          </a:p>
          <a:p>
            <a:pPr marL="457200" indent="-457200">
              <a:lnSpc>
                <a:spcPct val="80000"/>
              </a:lnSpc>
            </a:pPr>
            <a:r>
              <a:rPr lang="en-IN" sz="2200" dirty="0"/>
              <a:t>Download Bootstrap from </a:t>
            </a:r>
            <a:r>
              <a:rPr lang="en-IN" sz="2200" dirty="0" smtClean="0"/>
              <a:t>getbootstrap.com</a:t>
            </a:r>
          </a:p>
          <a:p>
            <a:pPr marL="457200" indent="-457200">
              <a:lnSpc>
                <a:spcPct val="80000"/>
              </a:lnSpc>
              <a:buNone/>
            </a:pPr>
            <a:endParaRPr lang="en-US" sz="2200" dirty="0" smtClean="0"/>
          </a:p>
          <a:p>
            <a:pPr marL="457200" indent="-457200">
              <a:lnSpc>
                <a:spcPct val="80000"/>
              </a:lnSpc>
              <a:buNone/>
            </a:pPr>
            <a:r>
              <a:rPr lang="en-US" sz="2200" dirty="0" smtClean="0"/>
              <a:t> There are 2 ways to attach  and use bootstrap</a:t>
            </a:r>
          </a:p>
          <a:p>
            <a:pPr marL="457200" indent="-457200">
              <a:lnSpc>
                <a:spcPct val="80000"/>
              </a:lnSpc>
              <a:buFont typeface="+mj-lt"/>
              <a:buAutoNum type="arabicPeriod"/>
            </a:pPr>
            <a:r>
              <a:rPr lang="en-IN" sz="2200" dirty="0" smtClean="0"/>
              <a:t>Include </a:t>
            </a:r>
            <a:r>
              <a:rPr lang="en-IN" sz="2200" dirty="0"/>
              <a:t>Bootstrap from a </a:t>
            </a:r>
            <a:r>
              <a:rPr lang="en-IN" sz="2200" dirty="0" smtClean="0"/>
              <a:t>CDN(fast)</a:t>
            </a:r>
          </a:p>
          <a:p>
            <a:pPr marL="457200" indent="-457200">
              <a:lnSpc>
                <a:spcPct val="80000"/>
              </a:lnSpc>
              <a:buFont typeface="+mj-lt"/>
              <a:buAutoNum type="arabicPeriod"/>
            </a:pPr>
            <a:r>
              <a:rPr lang="en-US" sz="2200" dirty="0" smtClean="0"/>
              <a:t>Download &amp; attach(slow)</a:t>
            </a:r>
            <a:endParaRPr lang="en-IN" sz="2200" dirty="0"/>
          </a:p>
          <a:p>
            <a:endParaRPr lang="en-IN" dirty="0"/>
          </a:p>
        </p:txBody>
      </p:sp>
      <p:pic>
        <p:nvPicPr>
          <p:cNvPr id="3075" name="Picture 3"/>
          <p:cNvPicPr>
            <a:picLocks noChangeAspect="1" noChangeArrowheads="1"/>
          </p:cNvPicPr>
          <p:nvPr/>
        </p:nvPicPr>
        <p:blipFill>
          <a:blip r:embed="rId2"/>
          <a:srcRect/>
          <a:stretch>
            <a:fillRect/>
          </a:stretch>
        </p:blipFill>
        <p:spPr bwMode="auto">
          <a:xfrm>
            <a:off x="285710" y="4803340"/>
            <a:ext cx="10477573" cy="2054661"/>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6667504" y="3500438"/>
            <a:ext cx="5228096" cy="23574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a:t>
            </a:r>
            <a:endParaRPr lang="en-IN" dirty="0"/>
          </a:p>
        </p:txBody>
      </p:sp>
      <p:sp>
        <p:nvSpPr>
          <p:cNvPr id="3" name="Content Placeholder 2"/>
          <p:cNvSpPr>
            <a:spLocks noGrp="1"/>
          </p:cNvSpPr>
          <p:nvPr>
            <p:ph idx="1"/>
          </p:nvPr>
        </p:nvSpPr>
        <p:spPr/>
        <p:txBody>
          <a:bodyPr/>
          <a:lstStyle/>
          <a:p>
            <a:r>
              <a:rPr lang="en-US" dirty="0" smtClean="0"/>
              <a:t>Create simple index page with links to bootstrap library. </a:t>
            </a:r>
          </a:p>
          <a:p>
            <a:pPr marL="514350" indent="-514350">
              <a:buFont typeface="+mj-lt"/>
              <a:buAutoNum type="arabicPeriod"/>
            </a:pPr>
            <a:r>
              <a:rPr lang="en-US" dirty="0" smtClean="0"/>
              <a:t>use CDN Add button and check the code</a:t>
            </a:r>
          </a:p>
          <a:p>
            <a:pPr marL="514350" indent="-514350">
              <a:buFont typeface="+mj-lt"/>
              <a:buAutoNum type="arabicPeriod"/>
            </a:pPr>
            <a:r>
              <a:rPr lang="en-US" dirty="0" smtClean="0"/>
              <a:t>downloaded bootstrap code (Use </a:t>
            </a:r>
            <a:r>
              <a:rPr lang="en-US" dirty="0" err="1" smtClean="0"/>
              <a:t>vs</a:t>
            </a:r>
            <a:r>
              <a:rPr lang="en-US" dirty="0" smtClean="0"/>
              <a:t> code editor) Add button and check the code</a:t>
            </a:r>
          </a:p>
          <a:p>
            <a:endParaRPr lang="en-IN" dirty="0" smtClean="0"/>
          </a:p>
          <a:p>
            <a:endParaRPr lang="en-US" dirty="0" smtClean="0"/>
          </a:p>
        </p:txBody>
      </p:sp>
      <p:pic>
        <p:nvPicPr>
          <p:cNvPr id="4" name="Picture 3"/>
          <p:cNvPicPr>
            <a:picLocks noChangeAspect="1"/>
          </p:cNvPicPr>
          <p:nvPr/>
        </p:nvPicPr>
        <p:blipFill rotWithShape="1">
          <a:blip r:embed="rId2"/>
          <a:srcRect l="25530" t="27768" r="21317" b="27232"/>
          <a:stretch/>
        </p:blipFill>
        <p:spPr>
          <a:xfrm>
            <a:off x="4595223" y="3384731"/>
            <a:ext cx="6885577" cy="3291840"/>
          </a:xfrm>
          <a:prstGeom prst="rect">
            <a:avLst/>
          </a:prstGeom>
        </p:spPr>
      </p:pic>
      <p:cxnSp>
        <p:nvCxnSpPr>
          <p:cNvPr id="6" name="Elbow Connector 5"/>
          <p:cNvCxnSpPr>
            <a:endCxn id="4" idx="1"/>
          </p:cNvCxnSpPr>
          <p:nvPr/>
        </p:nvCxnSpPr>
        <p:spPr>
          <a:xfrm>
            <a:off x="2148114" y="3657600"/>
            <a:ext cx="2447109" cy="1373051"/>
          </a:xfrm>
          <a:prstGeom prst="bentConnector3">
            <a:avLst>
              <a:gd name="adj1" fmla="val -415"/>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1669142" y="5280641"/>
            <a:ext cx="2598057" cy="646331"/>
          </a:xfrm>
          <a:prstGeom prst="rect">
            <a:avLst/>
          </a:prstGeom>
          <a:noFill/>
        </p:spPr>
        <p:txBody>
          <a:bodyPr wrap="square" rtlCol="0">
            <a:spAutoFit/>
          </a:bodyPr>
          <a:lstStyle/>
          <a:p>
            <a:r>
              <a:rPr lang="en-US" b="1" dirty="0" smtClean="0"/>
              <a:t>Download and Using direct file names </a:t>
            </a:r>
            <a:r>
              <a:rPr lang="en-US" b="1" dirty="0" err="1" smtClean="0"/>
              <a:t>js</a:t>
            </a:r>
            <a:r>
              <a:rPr lang="en-US" b="1" dirty="0" smtClean="0"/>
              <a:t> &amp; </a:t>
            </a:r>
            <a:r>
              <a:rPr lang="en-US" b="1" dirty="0" err="1" smtClean="0"/>
              <a:t>css</a:t>
            </a:r>
            <a:endParaRPr lang="en-IN"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526" t="29333" r="26816" b="16351"/>
          <a:stretch/>
        </p:blipFill>
        <p:spPr bwMode="auto">
          <a:xfrm>
            <a:off x="442761" y="1025090"/>
            <a:ext cx="5573028" cy="390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9526" t="37474" r="26894" b="31263"/>
          <a:stretch/>
        </p:blipFill>
        <p:spPr bwMode="auto">
          <a:xfrm>
            <a:off x="6458551" y="1585761"/>
            <a:ext cx="5313146" cy="214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32982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SYSTEM</a:t>
            </a:r>
            <a:endParaRPr lang="en-IN" dirty="0"/>
          </a:p>
        </p:txBody>
      </p:sp>
      <p:pic>
        <p:nvPicPr>
          <p:cNvPr id="4100" name="Picture 4" descr="Bootstrap 5 Columns and Grid System | Explained"/>
          <p:cNvPicPr>
            <a:picLocks noChangeAspect="1" noChangeArrowheads="1"/>
          </p:cNvPicPr>
          <p:nvPr/>
        </p:nvPicPr>
        <p:blipFill>
          <a:blip r:embed="rId2"/>
          <a:srcRect/>
          <a:stretch>
            <a:fillRect/>
          </a:stretch>
        </p:blipFill>
        <p:spPr bwMode="auto">
          <a:xfrm>
            <a:off x="1142965" y="2786058"/>
            <a:ext cx="10140931" cy="2769792"/>
          </a:xfrm>
          <a:prstGeom prst="rect">
            <a:avLst/>
          </a:prstGeom>
          <a:noFill/>
        </p:spPr>
      </p:pic>
      <p:sp>
        <p:nvSpPr>
          <p:cNvPr id="6" name="Rectangle 5"/>
          <p:cNvSpPr/>
          <p:nvPr/>
        </p:nvSpPr>
        <p:spPr>
          <a:xfrm>
            <a:off x="380960" y="1500174"/>
            <a:ext cx="11049077" cy="646331"/>
          </a:xfrm>
          <a:prstGeom prst="rect">
            <a:avLst/>
          </a:prstGeom>
        </p:spPr>
        <p:txBody>
          <a:bodyPr wrap="square">
            <a:spAutoFit/>
          </a:bodyPr>
          <a:lstStyle/>
          <a:p>
            <a:r>
              <a:rPr lang="en-US" b="1" i="0" dirty="0" smtClean="0">
                <a:solidFill>
                  <a:srgbClr val="273239"/>
                </a:solidFill>
                <a:effectLst/>
                <a:latin typeface="urw-din"/>
              </a:rPr>
              <a:t>Grid System</a:t>
            </a:r>
            <a:r>
              <a:rPr lang="en-US" b="0" i="0" dirty="0" smtClean="0">
                <a:solidFill>
                  <a:srgbClr val="273239"/>
                </a:solidFill>
                <a:effectLst/>
                <a:latin typeface="urw-din"/>
              </a:rPr>
              <a:t> allows up to 12 columns across the page. You can use each of them individually or merge them together for wider columns. All combinations of values summing up to 12 can be used.</a:t>
            </a:r>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0E315-8EF9-1E85-2A53-0290D1E37EEE}"/>
              </a:ext>
            </a:extLst>
          </p:cNvPr>
          <p:cNvSpPr>
            <a:spLocks noGrp="1"/>
          </p:cNvSpPr>
          <p:nvPr>
            <p:ph type="title"/>
          </p:nvPr>
        </p:nvSpPr>
        <p:spPr/>
        <p:txBody>
          <a:bodyPr>
            <a:noAutofit/>
          </a:bodyPr>
          <a:lstStyle/>
          <a:p>
            <a:r>
              <a:rPr lang="en-US" sz="3200" b="1" dirty="0">
                <a:solidFill>
                  <a:srgbClr val="273239"/>
                </a:solidFill>
                <a:latin typeface="urw-din"/>
              </a:rPr>
              <a:t>Grid Classes:</a:t>
            </a:r>
            <a:r>
              <a:rPr lang="en-US" sz="3200" dirty="0">
                <a:solidFill>
                  <a:srgbClr val="273239"/>
                </a:solidFill>
                <a:latin typeface="urw-din"/>
              </a:rPr>
              <a:t> Bootstrap grid system contains </a:t>
            </a:r>
            <a:r>
              <a:rPr lang="en-US" sz="3200" dirty="0" smtClean="0">
                <a:solidFill>
                  <a:srgbClr val="273239"/>
                </a:solidFill>
                <a:latin typeface="urw-din"/>
              </a:rPr>
              <a:t>six </a:t>
            </a:r>
            <a:r>
              <a:rPr lang="en-US" sz="3200" dirty="0">
                <a:solidFill>
                  <a:srgbClr val="273239"/>
                </a:solidFill>
                <a:latin typeface="urw-din"/>
              </a:rPr>
              <a:t>classes </a:t>
            </a:r>
            <a:r>
              <a:rPr lang="en-US" sz="3200" dirty="0" smtClean="0">
                <a:solidFill>
                  <a:srgbClr val="273239"/>
                </a:solidFill>
                <a:latin typeface="urw-din"/>
              </a:rPr>
              <a:t>(break points):</a:t>
            </a:r>
            <a:r>
              <a:rPr lang="en-US" sz="3200" dirty="0">
                <a:solidFill>
                  <a:srgbClr val="273239"/>
                </a:solidFill>
                <a:latin typeface="urw-din"/>
              </a:rPr>
              <a:t/>
            </a:r>
            <a:br>
              <a:rPr lang="en-US" sz="3200" dirty="0">
                <a:solidFill>
                  <a:srgbClr val="273239"/>
                </a:solidFill>
                <a:latin typeface="urw-din"/>
              </a:rPr>
            </a:br>
            <a:endParaRPr lang="en-IN" sz="3200" dirty="0"/>
          </a:p>
        </p:txBody>
      </p:sp>
      <p:sp>
        <p:nvSpPr>
          <p:cNvPr id="3" name="Content Placeholder 2">
            <a:extLst>
              <a:ext uri="{FF2B5EF4-FFF2-40B4-BE49-F238E27FC236}">
                <a16:creationId xmlns:a16="http://schemas.microsoft.com/office/drawing/2014/main" id="{75509A03-F2BD-72A0-4859-B82ABC8A2AB1}"/>
              </a:ext>
            </a:extLst>
          </p:cNvPr>
          <p:cNvSpPr>
            <a:spLocks noGrp="1"/>
          </p:cNvSpPr>
          <p:nvPr>
            <p:ph idx="1"/>
          </p:nvPr>
        </p:nvSpPr>
        <p:spPr>
          <a:xfrm>
            <a:off x="823210" y="1705705"/>
            <a:ext cx="10530590" cy="1623284"/>
          </a:xfrm>
        </p:spPr>
        <p:txBody>
          <a:bodyPr>
            <a:noAutofit/>
          </a:bodyPr>
          <a:lstStyle/>
          <a:p>
            <a:pPr algn="just" fontAlgn="base">
              <a:buFont typeface="Arial" panose="020B0604020202020204" pitchFamily="34" charset="0"/>
              <a:buChar char="•"/>
            </a:pPr>
            <a:r>
              <a:rPr lang="en-US" sz="1800" b="1" i="0" dirty="0" smtClean="0">
                <a:solidFill>
                  <a:srgbClr val="273239"/>
                </a:solidFill>
                <a:effectLst/>
                <a:latin typeface="urw-din"/>
              </a:rPr>
              <a:t>.</a:t>
            </a:r>
            <a:r>
              <a:rPr lang="en-US" sz="1800" b="1" i="0" dirty="0">
                <a:solidFill>
                  <a:srgbClr val="273239"/>
                </a:solidFill>
                <a:effectLst/>
                <a:latin typeface="urw-din"/>
              </a:rPr>
              <a:t>col-</a:t>
            </a:r>
            <a:r>
              <a:rPr lang="en-US" sz="1800" b="0" i="0" dirty="0">
                <a:solidFill>
                  <a:srgbClr val="273239"/>
                </a:solidFill>
                <a:effectLst/>
                <a:latin typeface="urw-din"/>
              </a:rPr>
              <a:t> It is used for extra small screen devices (screen width less than 576px).</a:t>
            </a:r>
          </a:p>
          <a:p>
            <a:pPr algn="just" fontAlgn="base">
              <a:buFont typeface="Arial" panose="020B0604020202020204" pitchFamily="34" charset="0"/>
              <a:buChar char="•"/>
            </a:pPr>
            <a:r>
              <a:rPr lang="en-US" sz="1800" b="1" i="0" dirty="0">
                <a:solidFill>
                  <a:srgbClr val="273239"/>
                </a:solidFill>
                <a:effectLst/>
                <a:latin typeface="urw-din"/>
              </a:rPr>
              <a:t>.col-</a:t>
            </a:r>
            <a:r>
              <a:rPr lang="en-US" sz="1800" b="1" i="0" dirty="0" err="1">
                <a:solidFill>
                  <a:srgbClr val="273239"/>
                </a:solidFill>
                <a:effectLst/>
                <a:latin typeface="urw-din"/>
              </a:rPr>
              <a:t>sm</a:t>
            </a:r>
            <a:r>
              <a:rPr lang="en-US" sz="1800" b="1" i="0" dirty="0">
                <a:solidFill>
                  <a:srgbClr val="273239"/>
                </a:solidFill>
                <a:effectLst/>
                <a:latin typeface="urw-din"/>
              </a:rPr>
              <a:t>-</a:t>
            </a:r>
            <a:r>
              <a:rPr lang="en-US" sz="1800" b="0" i="0" dirty="0">
                <a:solidFill>
                  <a:srgbClr val="273239"/>
                </a:solidFill>
                <a:effectLst/>
                <a:latin typeface="urw-din"/>
              </a:rPr>
              <a:t> It is used for small screen devices (screen width greater than or equal to 576px).</a:t>
            </a:r>
          </a:p>
          <a:p>
            <a:pPr algn="just" fontAlgn="base">
              <a:buFont typeface="Arial" panose="020B0604020202020204" pitchFamily="34" charset="0"/>
              <a:buChar char="•"/>
            </a:pPr>
            <a:r>
              <a:rPr lang="en-US" sz="1800" b="1" i="0" dirty="0">
                <a:solidFill>
                  <a:srgbClr val="273239"/>
                </a:solidFill>
                <a:effectLst/>
                <a:latin typeface="urw-din"/>
              </a:rPr>
              <a:t>.col-md-</a:t>
            </a:r>
            <a:r>
              <a:rPr lang="en-US" sz="1800" b="0" i="0" dirty="0">
                <a:solidFill>
                  <a:srgbClr val="273239"/>
                </a:solidFill>
                <a:effectLst/>
                <a:latin typeface="urw-din"/>
              </a:rPr>
              <a:t> It is used for medium screen size devices (screen width greater than or equal to 768px).</a:t>
            </a:r>
          </a:p>
          <a:p>
            <a:pPr algn="just" fontAlgn="base">
              <a:buFont typeface="Arial" panose="020B0604020202020204" pitchFamily="34" charset="0"/>
              <a:buChar char="•"/>
            </a:pPr>
            <a:r>
              <a:rPr lang="en-US" sz="1800" b="1" i="0" dirty="0">
                <a:solidFill>
                  <a:srgbClr val="273239"/>
                </a:solidFill>
                <a:effectLst/>
                <a:latin typeface="urw-din"/>
              </a:rPr>
              <a:t>.col-lg-</a:t>
            </a:r>
            <a:r>
              <a:rPr lang="en-US" sz="1800" b="0" i="0" dirty="0">
                <a:solidFill>
                  <a:srgbClr val="273239"/>
                </a:solidFill>
                <a:effectLst/>
                <a:latin typeface="urw-din"/>
              </a:rPr>
              <a:t> It is used for large screen size devices (screen width greater than or equal to 992px).</a:t>
            </a:r>
          </a:p>
          <a:p>
            <a:pPr algn="just" fontAlgn="base">
              <a:buFont typeface="Arial" panose="020B0604020202020204" pitchFamily="34" charset="0"/>
              <a:buChar char="•"/>
            </a:pPr>
            <a:r>
              <a:rPr lang="en-US" sz="1800" b="1" i="0" dirty="0">
                <a:solidFill>
                  <a:srgbClr val="273239"/>
                </a:solidFill>
                <a:effectLst/>
                <a:latin typeface="urw-din"/>
              </a:rPr>
              <a:t>.col-xl-</a:t>
            </a:r>
            <a:r>
              <a:rPr lang="en-US" sz="1800" b="0" i="0" dirty="0">
                <a:solidFill>
                  <a:srgbClr val="273239"/>
                </a:solidFill>
                <a:effectLst/>
                <a:latin typeface="urw-din"/>
              </a:rPr>
              <a:t> It is used for </a:t>
            </a:r>
            <a:r>
              <a:rPr lang="en-US" sz="1800" b="0" i="0" dirty="0" err="1">
                <a:solidFill>
                  <a:srgbClr val="273239"/>
                </a:solidFill>
                <a:effectLst/>
                <a:latin typeface="urw-din"/>
              </a:rPr>
              <a:t>xlarge</a:t>
            </a:r>
            <a:r>
              <a:rPr lang="en-US" sz="1800" b="0" i="0" dirty="0">
                <a:solidFill>
                  <a:srgbClr val="273239"/>
                </a:solidFill>
                <a:effectLst/>
                <a:latin typeface="urw-din"/>
              </a:rPr>
              <a:t> screen size devices (screen width equal to or greater than 1200px</a:t>
            </a:r>
            <a:r>
              <a:rPr lang="en-US" sz="1800" b="0" i="0" dirty="0" smtClean="0">
                <a:solidFill>
                  <a:srgbClr val="273239"/>
                </a:solidFill>
                <a:effectLst/>
                <a:latin typeface="urw-din"/>
              </a:rPr>
              <a:t>).</a:t>
            </a:r>
          </a:p>
          <a:p>
            <a:pPr algn="just" fontAlgn="base"/>
            <a:r>
              <a:rPr lang="en-US" sz="1800" b="1" dirty="0">
                <a:solidFill>
                  <a:srgbClr val="273239"/>
                </a:solidFill>
                <a:latin typeface="urw-din"/>
              </a:rPr>
              <a:t>.</a:t>
            </a:r>
            <a:r>
              <a:rPr lang="en-US" sz="1800" b="1" dirty="0" smtClean="0">
                <a:solidFill>
                  <a:srgbClr val="273239"/>
                </a:solidFill>
                <a:latin typeface="urw-din"/>
              </a:rPr>
              <a:t>col-</a:t>
            </a:r>
            <a:r>
              <a:rPr lang="en-US" sz="1800" b="1" dirty="0" err="1" smtClean="0">
                <a:solidFill>
                  <a:srgbClr val="273239"/>
                </a:solidFill>
                <a:latin typeface="urw-din"/>
              </a:rPr>
              <a:t>xxl</a:t>
            </a:r>
            <a:r>
              <a:rPr lang="en-US" sz="1800" b="1" dirty="0" smtClean="0">
                <a:solidFill>
                  <a:srgbClr val="273239"/>
                </a:solidFill>
                <a:latin typeface="urw-din"/>
              </a:rPr>
              <a:t>-</a:t>
            </a:r>
            <a:r>
              <a:rPr lang="en-US" sz="1800" dirty="0">
                <a:solidFill>
                  <a:srgbClr val="273239"/>
                </a:solidFill>
                <a:latin typeface="urw-din"/>
              </a:rPr>
              <a:t> It is used for </a:t>
            </a:r>
            <a:r>
              <a:rPr lang="en-US" sz="1800" dirty="0" err="1" smtClean="0">
                <a:solidFill>
                  <a:srgbClr val="273239"/>
                </a:solidFill>
                <a:latin typeface="urw-din"/>
              </a:rPr>
              <a:t>xxlarge</a:t>
            </a:r>
            <a:r>
              <a:rPr lang="en-US" sz="1800" dirty="0" smtClean="0">
                <a:solidFill>
                  <a:srgbClr val="273239"/>
                </a:solidFill>
                <a:latin typeface="urw-din"/>
              </a:rPr>
              <a:t> </a:t>
            </a:r>
            <a:r>
              <a:rPr lang="en-US" sz="1800" dirty="0">
                <a:solidFill>
                  <a:srgbClr val="273239"/>
                </a:solidFill>
                <a:latin typeface="urw-din"/>
              </a:rPr>
              <a:t>screen size devices (screen width equal to or greater than </a:t>
            </a:r>
            <a:r>
              <a:rPr lang="en-US" sz="1800" dirty="0" smtClean="0">
                <a:solidFill>
                  <a:srgbClr val="273239"/>
                </a:solidFill>
                <a:latin typeface="urw-din"/>
              </a:rPr>
              <a:t>1400px).</a:t>
            </a:r>
            <a:endParaRPr lang="en-US" sz="1800" dirty="0">
              <a:solidFill>
                <a:srgbClr val="273239"/>
              </a:solidFill>
              <a:latin typeface="urw-din"/>
            </a:endParaRPr>
          </a:p>
        </p:txBody>
      </p:sp>
    </p:spTree>
    <p:extLst>
      <p:ext uri="{BB962C8B-B14F-4D97-AF65-F5344CB8AC3E}">
        <p14:creationId xmlns:p14="http://schemas.microsoft.com/office/powerpoint/2010/main" val="31927125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0005-E77A-43D6-2EAC-3C644153960A}"/>
              </a:ext>
            </a:extLst>
          </p:cNvPr>
          <p:cNvSpPr>
            <a:spLocks noGrp="1"/>
          </p:cNvSpPr>
          <p:nvPr>
            <p:ph type="title"/>
          </p:nvPr>
        </p:nvSpPr>
        <p:spPr/>
        <p:txBody>
          <a:bodyPr/>
          <a:lstStyle/>
          <a:p>
            <a:r>
              <a:rPr lang="en-US" b="1" dirty="0">
                <a:solidFill>
                  <a:srgbClr val="273239"/>
                </a:solidFill>
                <a:latin typeface="urw-din"/>
              </a:rPr>
              <a:t>Components of Grid System:</a:t>
            </a:r>
            <a:r>
              <a:rPr lang="en-US" dirty="0">
                <a:solidFill>
                  <a:srgbClr val="273239"/>
                </a:solidFill>
                <a:latin typeface="urw-din"/>
              </a:rPr>
              <a:t/>
            </a:r>
            <a:br>
              <a:rPr lang="en-US" dirty="0">
                <a:solidFill>
                  <a:srgbClr val="273239"/>
                </a:solidFill>
                <a:latin typeface="urw-din"/>
              </a:rPr>
            </a:br>
            <a:endParaRPr lang="en-IN" dirty="0"/>
          </a:p>
        </p:txBody>
      </p:sp>
      <p:sp>
        <p:nvSpPr>
          <p:cNvPr id="3" name="Content Placeholder 2">
            <a:extLst>
              <a:ext uri="{FF2B5EF4-FFF2-40B4-BE49-F238E27FC236}">
                <a16:creationId xmlns:a16="http://schemas.microsoft.com/office/drawing/2014/main" id="{74846451-F135-D883-052B-1F7ACCF03555}"/>
              </a:ext>
            </a:extLst>
          </p:cNvPr>
          <p:cNvSpPr>
            <a:spLocks noGrp="1"/>
          </p:cNvSpPr>
          <p:nvPr>
            <p:ph idx="1"/>
          </p:nvPr>
        </p:nvSpPr>
        <p:spPr/>
        <p:txBody>
          <a:bodyPr>
            <a:normAutofit/>
          </a:bodyPr>
          <a:lstStyle/>
          <a:p>
            <a:pPr algn="just" fontAlgn="base">
              <a:buFont typeface="Arial" panose="020B0604020202020204" pitchFamily="34" charset="0"/>
              <a:buChar char="•"/>
            </a:pPr>
            <a:r>
              <a:rPr lang="en-US" sz="2000" b="1" i="0" dirty="0" smtClean="0">
                <a:solidFill>
                  <a:srgbClr val="273239"/>
                </a:solidFill>
                <a:effectLst/>
                <a:latin typeface="urw-din"/>
              </a:rPr>
              <a:t>Containers</a:t>
            </a:r>
            <a:r>
              <a:rPr lang="en-US" sz="2000" b="1" i="0" dirty="0">
                <a:solidFill>
                  <a:srgbClr val="273239"/>
                </a:solidFill>
                <a:effectLst/>
                <a:latin typeface="urw-din"/>
              </a:rPr>
              <a:t>:</a:t>
            </a:r>
            <a:r>
              <a:rPr lang="en-US" sz="2000" b="0" i="0" dirty="0">
                <a:solidFill>
                  <a:srgbClr val="273239"/>
                </a:solidFill>
                <a:effectLst/>
                <a:latin typeface="urw-din"/>
              </a:rPr>
              <a:t> Bootstrap requires a containing element to wrap site contents in a grid system. The word </a:t>
            </a:r>
            <a:r>
              <a:rPr lang="en-US" sz="2000" b="1" i="0" dirty="0">
                <a:solidFill>
                  <a:srgbClr val="273239"/>
                </a:solidFill>
                <a:effectLst/>
                <a:latin typeface="urw-din"/>
              </a:rPr>
              <a:t>container</a:t>
            </a:r>
            <a:r>
              <a:rPr lang="en-US" sz="2000" b="0" i="0" dirty="0">
                <a:solidFill>
                  <a:srgbClr val="273239"/>
                </a:solidFill>
                <a:effectLst/>
                <a:latin typeface="urw-din"/>
              </a:rPr>
              <a:t> is used to contain the row elements and row elements containing the column elements.</a:t>
            </a:r>
          </a:p>
          <a:p>
            <a:pPr algn="just" fontAlgn="base">
              <a:buFont typeface="Arial" panose="020B0604020202020204" pitchFamily="34" charset="0"/>
              <a:buChar char="•"/>
            </a:pPr>
            <a:r>
              <a:rPr lang="en-US" sz="2000" b="1" i="0" dirty="0">
                <a:solidFill>
                  <a:srgbClr val="273239"/>
                </a:solidFill>
                <a:effectLst/>
                <a:latin typeface="urw-din"/>
              </a:rPr>
              <a:t>Rows:</a:t>
            </a:r>
            <a:r>
              <a:rPr lang="en-US" sz="2000" b="0" i="0" dirty="0">
                <a:solidFill>
                  <a:srgbClr val="273239"/>
                </a:solidFill>
                <a:effectLst/>
                <a:latin typeface="urw-din"/>
              </a:rPr>
              <a:t> Rows must be placed within the </a:t>
            </a:r>
            <a:r>
              <a:rPr lang="en-US" sz="2000" b="1" i="0" dirty="0">
                <a:solidFill>
                  <a:srgbClr val="273239"/>
                </a:solidFill>
                <a:effectLst/>
                <a:latin typeface="urw-din"/>
              </a:rPr>
              <a:t>container</a:t>
            </a:r>
            <a:r>
              <a:rPr lang="en-US" sz="2000" b="0" i="0" dirty="0">
                <a:solidFill>
                  <a:srgbClr val="273239"/>
                </a:solidFill>
                <a:effectLst/>
                <a:latin typeface="urw-din"/>
              </a:rPr>
              <a:t> or </a:t>
            </a:r>
            <a:r>
              <a:rPr lang="en-US" sz="2000" b="1" i="0" dirty="0">
                <a:solidFill>
                  <a:srgbClr val="273239"/>
                </a:solidFill>
                <a:effectLst/>
                <a:latin typeface="urw-din"/>
              </a:rPr>
              <a:t>container-fluid</a:t>
            </a:r>
            <a:r>
              <a:rPr lang="en-US" sz="2000" b="0" i="0" dirty="0">
                <a:solidFill>
                  <a:srgbClr val="273239"/>
                </a:solidFill>
                <a:effectLst/>
                <a:latin typeface="urw-din"/>
              </a:rPr>
              <a:t> for proper alignment and padding. Rows are used to create horizontal groups of columns.</a:t>
            </a:r>
          </a:p>
          <a:p>
            <a:pPr algn="just" fontAlgn="base">
              <a:buFont typeface="Arial" panose="020B0604020202020204" pitchFamily="34" charset="0"/>
              <a:buChar char="•"/>
            </a:pPr>
            <a:r>
              <a:rPr lang="en-US" sz="2000" b="1" i="0" dirty="0">
                <a:solidFill>
                  <a:srgbClr val="273239"/>
                </a:solidFill>
                <a:effectLst/>
                <a:latin typeface="urw-din"/>
              </a:rPr>
              <a:t>Columns:</a:t>
            </a:r>
            <a:r>
              <a:rPr lang="en-US" sz="2000" b="0" i="0" dirty="0">
                <a:solidFill>
                  <a:srgbClr val="273239"/>
                </a:solidFill>
                <a:effectLst/>
                <a:latin typeface="urw-din"/>
              </a:rPr>
              <a:t> Grid columns are created by specifying the number of twelve available columns you wish to span. For example, three equal columns would use three col-lg-4.</a:t>
            </a:r>
          </a:p>
          <a:p>
            <a:endParaRPr lang="en-IN" sz="2000" dirty="0"/>
          </a:p>
        </p:txBody>
      </p:sp>
    </p:spTree>
    <p:extLst>
      <p:ext uri="{BB962C8B-B14F-4D97-AF65-F5344CB8AC3E}">
        <p14:creationId xmlns:p14="http://schemas.microsoft.com/office/powerpoint/2010/main" val="27680376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Grid Example</a:t>
            </a:r>
            <a:r>
              <a:rPr lang="en-IN" dirty="0"/>
              <a:t/>
            </a:r>
            <a:br>
              <a:rPr lang="en-IN" dirty="0"/>
            </a:br>
            <a:endParaRPr lang="en-IN" dirty="0"/>
          </a:p>
        </p:txBody>
      </p:sp>
      <p:sp>
        <p:nvSpPr>
          <p:cNvPr id="3" name="Content Placeholder 2"/>
          <p:cNvSpPr>
            <a:spLocks noGrp="1"/>
          </p:cNvSpPr>
          <p:nvPr>
            <p:ph idx="1"/>
          </p:nvPr>
        </p:nvSpPr>
        <p:spPr>
          <a:xfrm>
            <a:off x="838200" y="3346075"/>
            <a:ext cx="10515600" cy="2419350"/>
          </a:xfrm>
        </p:spPr>
        <p:txBody>
          <a:bodyPr>
            <a:normAutofit fontScale="70000" lnSpcReduction="20000"/>
          </a:bodyPr>
          <a:lstStyle/>
          <a:p>
            <a:pPr marL="0" indent="0">
              <a:buNone/>
            </a:pPr>
            <a:r>
              <a:rPr lang="en-IN" dirty="0" smtClean="0"/>
              <a:t>&lt;</a:t>
            </a:r>
            <a:r>
              <a:rPr lang="en-IN" dirty="0"/>
              <a:t>div class="container"&gt;</a:t>
            </a:r>
          </a:p>
          <a:p>
            <a:pPr marL="0" indent="0">
              <a:buNone/>
            </a:pPr>
            <a:r>
              <a:rPr lang="en-IN" dirty="0"/>
              <a:t>  &lt;div class="row"&gt;</a:t>
            </a:r>
          </a:p>
          <a:p>
            <a:pPr marL="0" indent="0">
              <a:buNone/>
            </a:pPr>
            <a:r>
              <a:rPr lang="en-IN" dirty="0"/>
              <a:t>    &lt;div class="col"&gt;Column 1&lt;/div&gt;</a:t>
            </a:r>
          </a:p>
          <a:p>
            <a:pPr marL="0" indent="0">
              <a:buNone/>
            </a:pPr>
            <a:r>
              <a:rPr lang="en-IN" dirty="0"/>
              <a:t>    &lt;div class="col"&gt;Column 2&lt;/div&gt;</a:t>
            </a:r>
          </a:p>
          <a:p>
            <a:pPr marL="0" indent="0">
              <a:buNone/>
            </a:pPr>
            <a:r>
              <a:rPr lang="en-IN" dirty="0"/>
              <a:t>    &lt;div class="col"&gt;Column 3&lt;/div&gt;</a:t>
            </a:r>
          </a:p>
          <a:p>
            <a:pPr marL="0" indent="0">
              <a:buNone/>
            </a:pPr>
            <a:r>
              <a:rPr lang="en-IN" dirty="0"/>
              <a:t>  &lt;/div&gt;</a:t>
            </a:r>
          </a:p>
          <a:p>
            <a:pPr marL="0" indent="0">
              <a:buNone/>
            </a:pPr>
            <a:r>
              <a:rPr lang="en-IN" dirty="0"/>
              <a:t>&lt;/div&gt;</a:t>
            </a:r>
          </a:p>
          <a:p>
            <a:pPr marL="0" indent="0">
              <a:buNone/>
            </a:pPr>
            <a:endParaRPr lang="en-IN" dirty="0"/>
          </a:p>
        </p:txBody>
      </p:sp>
      <p:sp>
        <p:nvSpPr>
          <p:cNvPr id="4" name="Rectangle 3"/>
          <p:cNvSpPr/>
          <p:nvPr/>
        </p:nvSpPr>
        <p:spPr>
          <a:xfrm>
            <a:off x="838200" y="1070770"/>
            <a:ext cx="10515600" cy="1569660"/>
          </a:xfrm>
          <a:prstGeom prst="rect">
            <a:avLst/>
          </a:prstGeom>
        </p:spPr>
        <p:txBody>
          <a:bodyPr wrap="square">
            <a:spAutoFit/>
          </a:bodyPr>
          <a:lstStyle/>
          <a:p>
            <a:pPr marL="285750" lvl="0" indent="-285750">
              <a:buFont typeface="Arial" panose="020B0604020202020204" pitchFamily="34" charset="0"/>
              <a:buChar char="•"/>
            </a:pPr>
            <a:r>
              <a:rPr lang="en-IN" sz="2400" dirty="0"/>
              <a:t>We define a .container to wrap our grid.</a:t>
            </a:r>
          </a:p>
          <a:p>
            <a:pPr marL="285750" lvl="0" indent="-285750">
              <a:buFont typeface="Arial" panose="020B0604020202020204" pitchFamily="34" charset="0"/>
              <a:buChar char="•"/>
            </a:pPr>
            <a:r>
              <a:rPr lang="en-IN" sz="2400" dirty="0"/>
              <a:t>Inside the container, we create a .row that holds three columns.</a:t>
            </a:r>
          </a:p>
          <a:p>
            <a:pPr marL="285750" lvl="0" indent="-285750">
              <a:buFont typeface="Arial" panose="020B0604020202020204" pitchFamily="34" charset="0"/>
              <a:buChar char="•"/>
            </a:pPr>
            <a:r>
              <a:rPr lang="en-IN" sz="2400" dirty="0"/>
              <a:t>Each .col represents a single column. By default, they will each take up 1/3 of the width because the grid is divided into 12 parts.</a:t>
            </a:r>
          </a:p>
        </p:txBody>
      </p:sp>
    </p:spTree>
    <p:extLst>
      <p:ext uri="{BB962C8B-B14F-4D97-AF65-F5344CB8AC3E}">
        <p14:creationId xmlns:p14="http://schemas.microsoft.com/office/powerpoint/2010/main" val="37383027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8BAE9-9090-2014-9ED8-BD2A4732A5B9}"/>
              </a:ext>
            </a:extLst>
          </p:cNvPr>
          <p:cNvSpPr>
            <a:spLocks noGrp="1"/>
          </p:cNvSpPr>
          <p:nvPr>
            <p:ph type="title"/>
          </p:nvPr>
        </p:nvSpPr>
        <p:spPr/>
        <p:txBody>
          <a:bodyPr>
            <a:normAutofit fontScale="90000"/>
          </a:bodyPr>
          <a:lstStyle/>
          <a:p>
            <a:r>
              <a:rPr lang="en-US" b="1" i="0" dirty="0" smtClean="0">
                <a:solidFill>
                  <a:srgbClr val="273239"/>
                </a:solidFill>
                <a:effectLst/>
                <a:latin typeface="urw-din"/>
              </a:rPr>
              <a:t>Example 1:</a:t>
            </a:r>
            <a:r>
              <a:rPr lang="en-US" b="0" i="0" dirty="0" smtClean="0">
                <a:solidFill>
                  <a:srgbClr val="273239"/>
                </a:solidFill>
                <a:effectLst/>
                <a:latin typeface="urw-din"/>
              </a:rPr>
              <a:t> This example uses bootstrap to create an equal width column grid on all devices and screen widths.</a:t>
            </a:r>
            <a:endParaRPr lang="en-IN" dirty="0"/>
          </a:p>
        </p:txBody>
      </p:sp>
    </p:spTree>
    <p:extLst>
      <p:ext uri="{BB962C8B-B14F-4D97-AF65-F5344CB8AC3E}">
        <p14:creationId xmlns:p14="http://schemas.microsoft.com/office/powerpoint/2010/main" val="28385489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386378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Column Sizing</a:t>
            </a:r>
            <a:r>
              <a:rPr lang="en-IN" dirty="0"/>
              <a:t/>
            </a:r>
            <a:br>
              <a:rPr lang="en-IN" dirty="0"/>
            </a:br>
            <a:endParaRPr lang="en-IN" dirty="0"/>
          </a:p>
        </p:txBody>
      </p:sp>
      <p:sp>
        <p:nvSpPr>
          <p:cNvPr id="3" name="Content Placeholder 2"/>
          <p:cNvSpPr>
            <a:spLocks noGrp="1"/>
          </p:cNvSpPr>
          <p:nvPr>
            <p:ph idx="1"/>
          </p:nvPr>
        </p:nvSpPr>
        <p:spPr>
          <a:xfrm>
            <a:off x="838200" y="1543050"/>
            <a:ext cx="10515600" cy="4633913"/>
          </a:xfrm>
        </p:spPr>
        <p:txBody>
          <a:bodyPr>
            <a:normAutofit fontScale="92500" lnSpcReduction="20000"/>
          </a:bodyPr>
          <a:lstStyle/>
          <a:p>
            <a:pPr marL="0" indent="0">
              <a:buNone/>
            </a:pPr>
            <a:r>
              <a:rPr lang="en-IN" dirty="0" smtClean="0"/>
              <a:t>You </a:t>
            </a:r>
            <a:r>
              <a:rPr lang="en-IN" dirty="0"/>
              <a:t>can specify the number of columns an element should span. For example, if you want a column to take up half of the width, you use .col-6 (since 6 out of 12 columns is half).</a:t>
            </a:r>
          </a:p>
          <a:p>
            <a:pPr marL="0" indent="0">
              <a:buNone/>
            </a:pPr>
            <a:endParaRPr lang="en-IN" b="1" dirty="0" smtClean="0"/>
          </a:p>
          <a:p>
            <a:pPr marL="0" indent="0">
              <a:buNone/>
            </a:pPr>
            <a:r>
              <a:rPr lang="en-IN" b="1" dirty="0" smtClean="0"/>
              <a:t>Column </a:t>
            </a:r>
            <a:r>
              <a:rPr lang="en-IN" b="1" dirty="0"/>
              <a:t>Width Example:</a:t>
            </a:r>
            <a:endParaRPr lang="en-IN" dirty="0"/>
          </a:p>
          <a:p>
            <a:pPr marL="0" indent="0">
              <a:buNone/>
            </a:pPr>
            <a:r>
              <a:rPr lang="en-IN" dirty="0" smtClean="0"/>
              <a:t>&lt;</a:t>
            </a:r>
            <a:r>
              <a:rPr lang="en-IN" dirty="0"/>
              <a:t>div class="container"&gt;</a:t>
            </a:r>
          </a:p>
          <a:p>
            <a:pPr marL="0" indent="0">
              <a:buNone/>
            </a:pPr>
            <a:r>
              <a:rPr lang="en-IN" dirty="0"/>
              <a:t>  &lt;div class="row"&gt;</a:t>
            </a:r>
          </a:p>
          <a:p>
            <a:pPr marL="0" indent="0">
              <a:buNone/>
            </a:pPr>
            <a:r>
              <a:rPr lang="en-IN" dirty="0"/>
              <a:t>    &lt;div class="col-6"&gt;50% width&lt;/div&gt;</a:t>
            </a:r>
          </a:p>
          <a:p>
            <a:pPr marL="0" indent="0">
              <a:buNone/>
            </a:pPr>
            <a:r>
              <a:rPr lang="en-IN" dirty="0"/>
              <a:t>    &lt;div class="</a:t>
            </a:r>
            <a:r>
              <a:rPr lang="en-IN" dirty="0" smtClean="0"/>
              <a:t>col-6"&gt;</a:t>
            </a:r>
            <a:r>
              <a:rPr lang="en-IN" dirty="0"/>
              <a:t>50% width&lt;/div&gt;</a:t>
            </a:r>
          </a:p>
          <a:p>
            <a:pPr marL="0" indent="0">
              <a:buNone/>
            </a:pPr>
            <a:r>
              <a:rPr lang="en-IN" dirty="0"/>
              <a:t>  &lt;/div&gt;</a:t>
            </a:r>
          </a:p>
          <a:p>
            <a:pPr marL="0" indent="0">
              <a:buNone/>
            </a:pPr>
            <a:r>
              <a:rPr lang="en-IN" dirty="0"/>
              <a:t>&lt;/div&gt;</a:t>
            </a:r>
          </a:p>
          <a:p>
            <a:pPr marL="0" indent="0">
              <a:buNone/>
            </a:pPr>
            <a:r>
              <a:rPr lang="en-IN" dirty="0"/>
              <a:t>This will create two columns, each taking up 50% of the container width.</a:t>
            </a:r>
          </a:p>
          <a:p>
            <a:pPr marL="0" indent="0">
              <a:buNone/>
            </a:pPr>
            <a:endParaRPr lang="en-IN" dirty="0"/>
          </a:p>
        </p:txBody>
      </p:sp>
    </p:spTree>
    <p:extLst>
      <p:ext uri="{BB962C8B-B14F-4D97-AF65-F5344CB8AC3E}">
        <p14:creationId xmlns:p14="http://schemas.microsoft.com/office/powerpoint/2010/main" val="3310970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Responsive Columns (Breakpoints)</a:t>
            </a:r>
            <a:r>
              <a:rPr lang="en-IN" dirty="0"/>
              <a:t/>
            </a:r>
            <a:br>
              <a:rPr lang="en-IN" dirty="0"/>
            </a:br>
            <a:endParaRPr lang="en-IN" dirty="0"/>
          </a:p>
        </p:txBody>
      </p:sp>
      <p:sp>
        <p:nvSpPr>
          <p:cNvPr id="3" name="Content Placeholder 2"/>
          <p:cNvSpPr>
            <a:spLocks noGrp="1"/>
          </p:cNvSpPr>
          <p:nvPr>
            <p:ph idx="1"/>
          </p:nvPr>
        </p:nvSpPr>
        <p:spPr>
          <a:xfrm>
            <a:off x="838200" y="1168400"/>
            <a:ext cx="10515600" cy="1774825"/>
          </a:xfrm>
        </p:spPr>
        <p:txBody>
          <a:bodyPr>
            <a:normAutofit fontScale="85000" lnSpcReduction="20000"/>
          </a:bodyPr>
          <a:lstStyle/>
          <a:p>
            <a:r>
              <a:rPr lang="en-IN" dirty="0" smtClean="0"/>
              <a:t>Bootstrap </a:t>
            </a:r>
            <a:r>
              <a:rPr lang="en-IN" dirty="0"/>
              <a:t>is </a:t>
            </a:r>
            <a:r>
              <a:rPr lang="en-IN" b="1" dirty="0"/>
              <a:t>mobile-first</a:t>
            </a:r>
            <a:r>
              <a:rPr lang="en-IN" dirty="0"/>
              <a:t>, meaning it designs for small screens first and works its way up. The grid system allows you to define different column sizes at various breakpoints.</a:t>
            </a:r>
          </a:p>
          <a:p>
            <a:r>
              <a:rPr lang="en-IN" dirty="0" smtClean="0"/>
              <a:t>You </a:t>
            </a:r>
            <a:r>
              <a:rPr lang="en-IN" dirty="0"/>
              <a:t>can create responsive layouts by specifying column widths for each breakpoint. For example, you can make columns stack on small screens but align side-by-side on larger screens.</a:t>
            </a:r>
          </a:p>
          <a:p>
            <a:pPr marL="0" indent="0">
              <a:buNone/>
            </a:pPr>
            <a:endParaRPr lang="en-IN" dirty="0"/>
          </a:p>
        </p:txBody>
      </p:sp>
    </p:spTree>
    <p:extLst>
      <p:ext uri="{BB962C8B-B14F-4D97-AF65-F5344CB8AC3E}">
        <p14:creationId xmlns:p14="http://schemas.microsoft.com/office/powerpoint/2010/main" val="2694176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ea typeface="Times New Roman" panose="02020603050405020304" pitchFamily="18" charset="0"/>
                <a:cs typeface="Times New Roman" panose="02020603050405020304" pitchFamily="18" charset="0"/>
              </a:rPr>
              <a:t>Responsive Column Example</a:t>
            </a:r>
            <a:r>
              <a:rPr lang="en-IN" b="1"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p>
        </p:txBody>
      </p:sp>
      <p:sp>
        <p:nvSpPr>
          <p:cNvPr id="3" name="Content Placeholder 2"/>
          <p:cNvSpPr>
            <a:spLocks noGrp="1"/>
          </p:cNvSpPr>
          <p:nvPr>
            <p:ph idx="1"/>
          </p:nvPr>
        </p:nvSpPr>
        <p:spPr>
          <a:xfrm>
            <a:off x="838201" y="1825625"/>
            <a:ext cx="7705724" cy="2989263"/>
          </a:xfrm>
        </p:spPr>
        <p:txBody>
          <a:bodyPr>
            <a:normAutofit fontScale="55000" lnSpcReduction="20000"/>
          </a:bodyPr>
          <a:lstStyle/>
          <a:p>
            <a:pPr marL="0" indent="0">
              <a:lnSpc>
                <a:spcPct val="107000"/>
              </a:lnSpc>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smtClean="0">
                <a:latin typeface="Courier New" panose="02070309020205020404" pitchFamily="49" charset="0"/>
                <a:ea typeface="Times New Roman" panose="02020603050405020304" pitchFamily="18" charset="0"/>
                <a:cs typeface="Times New Roman" panose="02020603050405020304" pitchFamily="18" charset="0"/>
              </a:rPr>
              <a:t>&lt;</a:t>
            </a:r>
            <a:r>
              <a:rPr lang="en-IN" dirty="0">
                <a:latin typeface="Courier New" panose="02070309020205020404" pitchFamily="49" charset="0"/>
                <a:ea typeface="Times New Roman" panose="02020603050405020304" pitchFamily="18" charset="0"/>
                <a:cs typeface="Times New Roman" panose="02020603050405020304" pitchFamily="18" charset="0"/>
              </a:rPr>
              <a:t>div class="container"&gt;</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Courier New" panose="02070309020205020404" pitchFamily="49" charset="0"/>
                <a:ea typeface="Times New Roman" panose="02020603050405020304" pitchFamily="18" charset="0"/>
                <a:cs typeface="Times New Roman" panose="02020603050405020304" pitchFamily="18" charset="0"/>
              </a:rPr>
              <a:t>  &lt;div class="row"&gt;</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Courier New" panose="02070309020205020404" pitchFamily="49" charset="0"/>
                <a:ea typeface="Times New Roman" panose="02020603050405020304" pitchFamily="18" charset="0"/>
                <a:cs typeface="Times New Roman" panose="02020603050405020304" pitchFamily="18" charset="0"/>
              </a:rPr>
              <a:t>    &lt;div class="col-12 col-md-6 col-lg-4"&gt;Column 1&lt;/div&gt;</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Courier New" panose="02070309020205020404" pitchFamily="49" charset="0"/>
                <a:ea typeface="Times New Roman" panose="02020603050405020304" pitchFamily="18" charset="0"/>
                <a:cs typeface="Times New Roman" panose="02020603050405020304" pitchFamily="18" charset="0"/>
              </a:rPr>
              <a:t>    &lt;div class="col-12 col-md-6 col-lg-4"&gt;Column 2&lt;/div&gt;</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Courier New" panose="02070309020205020404" pitchFamily="49" charset="0"/>
                <a:ea typeface="Times New Roman" panose="02020603050405020304" pitchFamily="18" charset="0"/>
                <a:cs typeface="Times New Roman" panose="02020603050405020304" pitchFamily="18" charset="0"/>
              </a:rPr>
              <a:t>    &lt;div class="col-12 col-md-6 col-lg-4"&gt;Column 3&lt;/div&gt;</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Courier New" panose="02070309020205020404" pitchFamily="49" charset="0"/>
                <a:ea typeface="Times New Roman" panose="02020603050405020304" pitchFamily="18" charset="0"/>
                <a:cs typeface="Times New Roman" panose="02020603050405020304" pitchFamily="18" charset="0"/>
              </a:rPr>
              <a:t>  &lt;/div&gt;</a:t>
            </a:r>
            <a:endParaRPr lang="en-IN" sz="36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Courier New" panose="02070309020205020404" pitchFamily="49" charset="0"/>
                <a:ea typeface="Times New Roman" panose="02020603050405020304" pitchFamily="18" charset="0"/>
                <a:cs typeface="Times New Roman" panose="02020603050405020304" pitchFamily="18" charset="0"/>
              </a:rPr>
              <a:t>&lt;/div</a:t>
            </a:r>
            <a:r>
              <a:rPr lang="en-IN" dirty="0" smtClean="0">
                <a:latin typeface="Courier New" panose="02070309020205020404" pitchFamily="49" charset="0"/>
                <a:ea typeface="Times New Roman" panose="02020603050405020304" pitchFamily="18" charset="0"/>
                <a:cs typeface="Times New Roman" panose="02020603050405020304" pitchFamily="18" charset="0"/>
              </a:rPr>
              <a:t>&gt;</a:t>
            </a:r>
            <a:endParaRPr lang="en-IN" sz="3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1685926" y="5021263"/>
            <a:ext cx="9301162" cy="1186607"/>
          </a:xfrm>
          <a:prstGeom prst="rect">
            <a:avLst/>
          </a:prstGeom>
        </p:spPr>
        <p:txBody>
          <a:bodyPr wrap="square">
            <a:spAutoFit/>
          </a:bodyPr>
          <a:lstStyle/>
          <a:p>
            <a:pPr lvl="0">
              <a:lnSpc>
                <a:spcPct val="107000"/>
              </a:lnSpc>
              <a:spcAft>
                <a:spcPts val="800"/>
              </a:spcAft>
              <a:buSzPts val="1000"/>
              <a:tabLst>
                <a:tab pos="4572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On small screens (less than 576px), each column takes up the full width (</a:t>
            </a:r>
            <a:r>
              <a:rPr lang="en-IN" dirty="0">
                <a:latin typeface="Courier New" panose="02070309020205020404" pitchFamily="49" charset="0"/>
                <a:ea typeface="Times New Roman" panose="02020603050405020304" pitchFamily="18" charset="0"/>
                <a:cs typeface="Times New Roman" panose="02020603050405020304" pitchFamily="18" charset="0"/>
              </a:rPr>
              <a:t>col-12</a:t>
            </a:r>
            <a:r>
              <a:rPr lang="en-IN"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On medium screens (≥768px), each column takes up 50% of the width (</a:t>
            </a:r>
            <a:r>
              <a:rPr lang="en-IN" dirty="0">
                <a:latin typeface="Courier New" panose="02070309020205020404" pitchFamily="49" charset="0"/>
                <a:ea typeface="Times New Roman" panose="02020603050405020304" pitchFamily="18" charset="0"/>
                <a:cs typeface="Times New Roman" panose="02020603050405020304" pitchFamily="18" charset="0"/>
              </a:rPr>
              <a:t>col-md-6</a:t>
            </a:r>
            <a:r>
              <a:rPr lang="en-IN"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On large screens (≥992px), each column takes up 33.33% of the width (</a:t>
            </a:r>
            <a:r>
              <a:rPr lang="en-IN" dirty="0">
                <a:latin typeface="Courier New" panose="02070309020205020404" pitchFamily="49" charset="0"/>
                <a:ea typeface="Times New Roman" panose="02020603050405020304" pitchFamily="18" charset="0"/>
                <a:cs typeface="Times New Roman" panose="02020603050405020304" pitchFamily="18" charset="0"/>
              </a:rPr>
              <a:t>col-lg-4</a:t>
            </a:r>
            <a:r>
              <a:rPr lang="en-IN"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81306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Example 2: You </a:t>
            </a:r>
            <a:r>
              <a:rPr lang="en-IN" dirty="0"/>
              <a:t>can create responsive layouts by specifying column widths for each breakpoint. For example, you can make columns stack on small screens but align side-by-side on larger screens.</a:t>
            </a:r>
          </a:p>
          <a:p>
            <a:endParaRPr lang="en-IN" dirty="0"/>
          </a:p>
        </p:txBody>
      </p:sp>
    </p:spTree>
    <p:extLst>
      <p:ext uri="{BB962C8B-B14F-4D97-AF65-F5344CB8AC3E}">
        <p14:creationId xmlns:p14="http://schemas.microsoft.com/office/powerpoint/2010/main" val="1179940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667741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Nesting </a:t>
            </a:r>
            <a:r>
              <a:rPr lang="en-IN" b="1" dirty="0" smtClean="0"/>
              <a:t>Columns</a:t>
            </a:r>
            <a:r>
              <a:rPr lang="en-IN" dirty="0" smtClean="0"/>
              <a:t> -You </a:t>
            </a:r>
            <a:r>
              <a:rPr lang="en-IN" dirty="0"/>
              <a:t>use .row and .col-* classes inside another .row.</a:t>
            </a:r>
            <a:br>
              <a:rPr lang="en-IN" dirty="0"/>
            </a:br>
            <a:endParaRPr lang="en-IN" dirty="0"/>
          </a:p>
        </p:txBody>
      </p:sp>
      <p:sp>
        <p:nvSpPr>
          <p:cNvPr id="3" name="Content Placeholder 2"/>
          <p:cNvSpPr>
            <a:spLocks noGrp="1"/>
          </p:cNvSpPr>
          <p:nvPr>
            <p:ph idx="1"/>
          </p:nvPr>
        </p:nvSpPr>
        <p:spPr>
          <a:xfrm>
            <a:off x="838200" y="1825625"/>
            <a:ext cx="5276850" cy="4351338"/>
          </a:xfrm>
        </p:spPr>
        <p:txBody>
          <a:bodyPr>
            <a:normAutofit fontScale="70000" lnSpcReduction="20000"/>
          </a:bodyPr>
          <a:lstStyle/>
          <a:p>
            <a:pPr marL="0" indent="0">
              <a:buNone/>
            </a:pPr>
            <a:r>
              <a:rPr lang="en-IN" dirty="0" smtClean="0"/>
              <a:t>&lt;</a:t>
            </a:r>
            <a:r>
              <a:rPr lang="en-IN" dirty="0"/>
              <a:t>div class="container"&gt;</a:t>
            </a:r>
          </a:p>
          <a:p>
            <a:pPr marL="0" indent="0">
              <a:buNone/>
            </a:pPr>
            <a:r>
              <a:rPr lang="en-IN" dirty="0"/>
              <a:t>  &lt;div class="row"&gt;</a:t>
            </a:r>
          </a:p>
          <a:p>
            <a:pPr marL="0" indent="0">
              <a:buNone/>
            </a:pPr>
            <a:r>
              <a:rPr lang="en-IN" dirty="0"/>
              <a:t>    &lt;div class="</a:t>
            </a:r>
            <a:r>
              <a:rPr lang="en-IN" dirty="0" smtClean="0"/>
              <a:t>col-md-8</a:t>
            </a:r>
            <a:r>
              <a:rPr lang="en-IN" dirty="0"/>
              <a:t>"&gt;</a:t>
            </a:r>
          </a:p>
          <a:p>
            <a:pPr marL="0" indent="0">
              <a:buNone/>
            </a:pPr>
            <a:r>
              <a:rPr lang="en-IN" dirty="0"/>
              <a:t>      &lt;div class="row"&gt;</a:t>
            </a:r>
          </a:p>
          <a:p>
            <a:pPr marL="0" indent="0">
              <a:buNone/>
            </a:pPr>
            <a:r>
              <a:rPr lang="en-IN" dirty="0"/>
              <a:t>        &lt;div class="col-6"&gt;Nested Column 1&lt;/div&gt;</a:t>
            </a:r>
          </a:p>
          <a:p>
            <a:pPr marL="0" indent="0">
              <a:buNone/>
            </a:pPr>
            <a:r>
              <a:rPr lang="en-IN" dirty="0"/>
              <a:t>        &lt;div class="col-6"&gt;Nested Column 2&lt;/div&gt;</a:t>
            </a:r>
          </a:p>
          <a:p>
            <a:pPr marL="0" indent="0">
              <a:buNone/>
            </a:pPr>
            <a:r>
              <a:rPr lang="en-IN" dirty="0"/>
              <a:t>      &lt;/div&gt;</a:t>
            </a:r>
          </a:p>
          <a:p>
            <a:pPr marL="0" indent="0">
              <a:buNone/>
            </a:pPr>
            <a:r>
              <a:rPr lang="en-IN" dirty="0"/>
              <a:t>    &lt;/div&gt;</a:t>
            </a:r>
          </a:p>
          <a:p>
            <a:pPr marL="0" indent="0">
              <a:buNone/>
            </a:pPr>
            <a:r>
              <a:rPr lang="en-IN" dirty="0"/>
              <a:t>    &lt;div class="</a:t>
            </a:r>
            <a:r>
              <a:rPr lang="en-IN" dirty="0" smtClean="0"/>
              <a:t>col-md-4</a:t>
            </a:r>
            <a:r>
              <a:rPr lang="en-IN" dirty="0"/>
              <a:t>"&gt;Main Column 2&lt;/div&gt;</a:t>
            </a:r>
          </a:p>
          <a:p>
            <a:pPr marL="0" indent="0">
              <a:buNone/>
            </a:pPr>
            <a:r>
              <a:rPr lang="en-IN" dirty="0"/>
              <a:t>  &lt;/div&gt;</a:t>
            </a:r>
          </a:p>
          <a:p>
            <a:pPr marL="0" indent="0">
              <a:buNone/>
            </a:pPr>
            <a:r>
              <a:rPr lang="en-IN" dirty="0"/>
              <a:t>&lt;/div&gt;</a:t>
            </a:r>
          </a:p>
          <a:p>
            <a:pPr marL="0" indent="0">
              <a:buNone/>
            </a:pPr>
            <a:endParaRPr lang="en-IN" dirty="0"/>
          </a:p>
        </p:txBody>
      </p:sp>
      <p:sp>
        <p:nvSpPr>
          <p:cNvPr id="4" name="Rectangle 3"/>
          <p:cNvSpPr/>
          <p:nvPr/>
        </p:nvSpPr>
        <p:spPr>
          <a:xfrm>
            <a:off x="5257800" y="2067222"/>
            <a:ext cx="6096000" cy="923330"/>
          </a:xfrm>
          <a:prstGeom prst="rect">
            <a:avLst/>
          </a:prstGeom>
        </p:spPr>
        <p:txBody>
          <a:bodyPr>
            <a:spAutoFit/>
          </a:bodyPr>
          <a:lstStyle/>
          <a:p>
            <a:r>
              <a:rPr lang="en-IN" dirty="0"/>
              <a:t>In this example, we have a main layout with two columns (</a:t>
            </a:r>
            <a:r>
              <a:rPr lang="en-IN" dirty="0" smtClean="0"/>
              <a:t>col-md-8 </a:t>
            </a:r>
            <a:r>
              <a:rPr lang="en-IN" dirty="0"/>
              <a:t>and col-md-4). Inside the first column, we nest another row with two columns.</a:t>
            </a:r>
          </a:p>
        </p:txBody>
      </p:sp>
    </p:spTree>
    <p:extLst>
      <p:ext uri="{BB962C8B-B14F-4D97-AF65-F5344CB8AC3E}">
        <p14:creationId xmlns:p14="http://schemas.microsoft.com/office/powerpoint/2010/main" val="3427778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Hiding </a:t>
            </a:r>
            <a:r>
              <a:rPr lang="en-IN" b="1" dirty="0" smtClean="0"/>
              <a:t>Columns</a:t>
            </a:r>
            <a:endParaRPr lang="en-IN" dirty="0"/>
          </a:p>
        </p:txBody>
      </p:sp>
      <p:sp>
        <p:nvSpPr>
          <p:cNvPr id="3" name="Content Placeholder 2"/>
          <p:cNvSpPr>
            <a:spLocks noGrp="1"/>
          </p:cNvSpPr>
          <p:nvPr>
            <p:ph idx="1"/>
          </p:nvPr>
        </p:nvSpPr>
        <p:spPr>
          <a:xfrm>
            <a:off x="838200" y="1939925"/>
            <a:ext cx="10515600" cy="4351338"/>
          </a:xfrm>
        </p:spPr>
        <p:txBody>
          <a:bodyPr>
            <a:normAutofit fontScale="70000" lnSpcReduction="20000"/>
          </a:bodyPr>
          <a:lstStyle/>
          <a:p>
            <a:pPr marL="0" indent="0">
              <a:buNone/>
            </a:pPr>
            <a:r>
              <a:rPr lang="en-IN" dirty="0" smtClean="0"/>
              <a:t>Bootstrap </a:t>
            </a:r>
            <a:r>
              <a:rPr lang="en-IN" dirty="0"/>
              <a:t>also allows you to hide columns on specific screen sizes using the .d-none, .d-</a:t>
            </a:r>
            <a:r>
              <a:rPr lang="en-IN" dirty="0" err="1"/>
              <a:t>sm</a:t>
            </a:r>
            <a:r>
              <a:rPr lang="en-IN" dirty="0"/>
              <a:t>-block, .d-md-none, etc., classes</a:t>
            </a:r>
            <a:r>
              <a:rPr lang="en-IN" dirty="0" smtClean="0"/>
              <a:t>.</a:t>
            </a:r>
          </a:p>
          <a:p>
            <a:pPr marL="0" indent="0">
              <a:buNone/>
            </a:pPr>
            <a:endParaRPr lang="en-IN" dirty="0"/>
          </a:p>
          <a:p>
            <a:pPr marL="0" indent="0">
              <a:buNone/>
            </a:pPr>
            <a:r>
              <a:rPr lang="en-IN" b="1" dirty="0"/>
              <a:t>Hide Column on Small Screens Example:</a:t>
            </a:r>
            <a:endParaRPr lang="en-IN" dirty="0"/>
          </a:p>
          <a:p>
            <a:pPr marL="0" indent="0">
              <a:buNone/>
            </a:pPr>
            <a:r>
              <a:rPr lang="en-IN" dirty="0" smtClean="0"/>
              <a:t>&lt;</a:t>
            </a:r>
            <a:r>
              <a:rPr lang="en-IN" dirty="0"/>
              <a:t>div class="container"&gt;</a:t>
            </a:r>
          </a:p>
          <a:p>
            <a:pPr marL="0" indent="0">
              <a:buNone/>
            </a:pPr>
            <a:r>
              <a:rPr lang="en-IN" dirty="0"/>
              <a:t>  &lt;div class="row"&gt;</a:t>
            </a:r>
          </a:p>
          <a:p>
            <a:pPr marL="0" indent="0">
              <a:buNone/>
            </a:pPr>
            <a:r>
              <a:rPr lang="en-IN" dirty="0"/>
              <a:t>    &lt;div class="col-12 col-sm-6 </a:t>
            </a:r>
            <a:r>
              <a:rPr lang="en-IN" b="1" dirty="0">
                <a:solidFill>
                  <a:srgbClr val="FF0000"/>
                </a:solidFill>
              </a:rPr>
              <a:t>d-none</a:t>
            </a:r>
            <a:r>
              <a:rPr lang="en-IN" dirty="0">
                <a:solidFill>
                  <a:srgbClr val="FF0000"/>
                </a:solidFill>
              </a:rPr>
              <a:t> d-</a:t>
            </a:r>
            <a:r>
              <a:rPr lang="en-IN" dirty="0" err="1">
                <a:solidFill>
                  <a:srgbClr val="FF0000"/>
                </a:solidFill>
              </a:rPr>
              <a:t>sm</a:t>
            </a:r>
            <a:r>
              <a:rPr lang="en-IN" dirty="0">
                <a:solidFill>
                  <a:srgbClr val="FF0000"/>
                </a:solidFill>
              </a:rPr>
              <a:t>-block</a:t>
            </a:r>
            <a:r>
              <a:rPr lang="en-IN" dirty="0" smtClean="0"/>
              <a:t>"&gt;</a:t>
            </a:r>
          </a:p>
          <a:p>
            <a:pPr marL="0" indent="0">
              <a:buNone/>
            </a:pPr>
            <a:r>
              <a:rPr lang="en-IN" dirty="0"/>
              <a:t> </a:t>
            </a:r>
            <a:r>
              <a:rPr lang="en-IN" dirty="0" smtClean="0"/>
              <a:t>           This </a:t>
            </a:r>
            <a:r>
              <a:rPr lang="en-IN" dirty="0"/>
              <a:t>column is hidden on </a:t>
            </a:r>
            <a:r>
              <a:rPr lang="en-IN" dirty="0" smtClean="0"/>
              <a:t>smallest </a:t>
            </a:r>
            <a:r>
              <a:rPr lang="en-IN" dirty="0"/>
              <a:t>screens&lt;/div&gt;</a:t>
            </a:r>
          </a:p>
          <a:p>
            <a:pPr marL="0" indent="0">
              <a:buNone/>
            </a:pPr>
            <a:r>
              <a:rPr lang="en-IN" dirty="0"/>
              <a:t>    &lt;div class="col-12 col-sm-6</a:t>
            </a:r>
            <a:r>
              <a:rPr lang="en-IN" dirty="0" smtClean="0"/>
              <a:t>"&gt;</a:t>
            </a:r>
          </a:p>
          <a:p>
            <a:pPr marL="0" indent="0">
              <a:buNone/>
            </a:pPr>
            <a:r>
              <a:rPr lang="en-IN" dirty="0" smtClean="0"/>
              <a:t>             This </a:t>
            </a:r>
            <a:r>
              <a:rPr lang="en-IN" dirty="0"/>
              <a:t>column is visible on all </a:t>
            </a:r>
            <a:r>
              <a:rPr lang="en-IN" dirty="0" smtClean="0"/>
              <a:t>screens</a:t>
            </a:r>
          </a:p>
          <a:p>
            <a:pPr marL="0" indent="0">
              <a:buNone/>
            </a:pPr>
            <a:r>
              <a:rPr lang="en-IN" dirty="0"/>
              <a:t> </a:t>
            </a:r>
            <a:r>
              <a:rPr lang="en-IN" dirty="0" smtClean="0"/>
              <a:t>    &lt;/</a:t>
            </a:r>
            <a:r>
              <a:rPr lang="en-IN" dirty="0"/>
              <a:t>div&gt;</a:t>
            </a:r>
          </a:p>
          <a:p>
            <a:pPr marL="0" indent="0">
              <a:buNone/>
            </a:pPr>
            <a:r>
              <a:rPr lang="en-IN" dirty="0"/>
              <a:t>  &lt;/div&gt;</a:t>
            </a:r>
          </a:p>
          <a:p>
            <a:pPr marL="0" indent="0">
              <a:buNone/>
            </a:pPr>
            <a:r>
              <a:rPr lang="en-IN" dirty="0"/>
              <a:t>&lt;/div&gt;</a:t>
            </a:r>
          </a:p>
          <a:p>
            <a:pPr marL="0" indent="0">
              <a:buNone/>
            </a:pPr>
            <a:endParaRPr lang="en-IN" dirty="0"/>
          </a:p>
        </p:txBody>
      </p:sp>
      <p:sp>
        <p:nvSpPr>
          <p:cNvPr id="4" name="Rectangle 3"/>
          <p:cNvSpPr/>
          <p:nvPr/>
        </p:nvSpPr>
        <p:spPr>
          <a:xfrm>
            <a:off x="6629400" y="2711391"/>
            <a:ext cx="5562600" cy="3293209"/>
          </a:xfrm>
          <a:prstGeom prst="rect">
            <a:avLst/>
          </a:prstGeom>
          <a:solidFill>
            <a:schemeClr val="accent4">
              <a:lumMod val="60000"/>
              <a:lumOff val="40000"/>
            </a:schemeClr>
          </a:solidFill>
        </p:spPr>
        <p:txBody>
          <a:bodyPr wrap="square">
            <a:spAutoFit/>
          </a:bodyPr>
          <a:lstStyle/>
          <a:p>
            <a:r>
              <a:rPr lang="en-IN" sz="1600" dirty="0" smtClean="0">
                <a:latin typeface="Consolas" panose="020B0609020204030204" pitchFamily="49" charset="0"/>
              </a:rPr>
              <a:t>.</a:t>
            </a:r>
            <a:r>
              <a:rPr lang="en-IN" sz="1600" dirty="0">
                <a:latin typeface="Consolas" panose="020B0609020204030204" pitchFamily="49" charset="0"/>
              </a:rPr>
              <a:t>d-none: Hides the element on all screen sizes</a:t>
            </a:r>
            <a:r>
              <a:rPr lang="en-IN" sz="1600" dirty="0" smtClean="0">
                <a:latin typeface="Consolas" panose="020B0609020204030204" pitchFamily="49" charset="0"/>
              </a:rPr>
              <a:t>.</a:t>
            </a:r>
          </a:p>
          <a:p>
            <a:endParaRPr lang="en-IN" sz="1600" dirty="0">
              <a:latin typeface="Consolas" panose="020B0609020204030204" pitchFamily="49" charset="0"/>
            </a:endParaRPr>
          </a:p>
          <a:p>
            <a:r>
              <a:rPr lang="en-IN" sz="1600" dirty="0" smtClean="0">
                <a:latin typeface="Consolas" panose="020B0609020204030204" pitchFamily="49" charset="0"/>
              </a:rPr>
              <a:t>.</a:t>
            </a:r>
            <a:r>
              <a:rPr lang="en-IN" sz="1600" dirty="0">
                <a:latin typeface="Consolas" panose="020B0609020204030204" pitchFamily="49" charset="0"/>
              </a:rPr>
              <a:t>d-</a:t>
            </a:r>
            <a:r>
              <a:rPr lang="en-IN" sz="1600" dirty="0" err="1">
                <a:latin typeface="Consolas" panose="020B0609020204030204" pitchFamily="49" charset="0"/>
              </a:rPr>
              <a:t>sm</a:t>
            </a:r>
            <a:r>
              <a:rPr lang="en-IN" sz="1600" dirty="0">
                <a:latin typeface="Consolas" panose="020B0609020204030204" pitchFamily="49" charset="0"/>
              </a:rPr>
              <a:t>-none: Hides the element on small screens (≥576px) and larger</a:t>
            </a:r>
            <a:r>
              <a:rPr lang="en-IN" sz="1600" dirty="0" smtClean="0">
                <a:latin typeface="Consolas" panose="020B0609020204030204" pitchFamily="49" charset="0"/>
              </a:rPr>
              <a:t>.</a:t>
            </a:r>
          </a:p>
          <a:p>
            <a:endParaRPr lang="en-IN" sz="1600" dirty="0">
              <a:latin typeface="Consolas" panose="020B0609020204030204" pitchFamily="49" charset="0"/>
            </a:endParaRPr>
          </a:p>
          <a:p>
            <a:r>
              <a:rPr lang="en-IN" sz="1600" dirty="0" smtClean="0">
                <a:latin typeface="Consolas" panose="020B0609020204030204" pitchFamily="49" charset="0"/>
              </a:rPr>
              <a:t>.</a:t>
            </a:r>
            <a:r>
              <a:rPr lang="en-IN" sz="1600" dirty="0">
                <a:latin typeface="Consolas" panose="020B0609020204030204" pitchFamily="49" charset="0"/>
              </a:rPr>
              <a:t>d-md-none: Hides the element on medium screens (≥768px) and larger</a:t>
            </a:r>
            <a:r>
              <a:rPr lang="en-IN" sz="1600" dirty="0" smtClean="0">
                <a:latin typeface="Consolas" panose="020B0609020204030204" pitchFamily="49" charset="0"/>
              </a:rPr>
              <a:t>.</a:t>
            </a:r>
          </a:p>
          <a:p>
            <a:endParaRPr lang="en-IN" sz="1600" dirty="0">
              <a:latin typeface="Consolas" panose="020B0609020204030204" pitchFamily="49" charset="0"/>
            </a:endParaRPr>
          </a:p>
          <a:p>
            <a:r>
              <a:rPr lang="en-IN" sz="1600" dirty="0" smtClean="0">
                <a:latin typeface="Consolas" panose="020B0609020204030204" pitchFamily="49" charset="0"/>
              </a:rPr>
              <a:t>.</a:t>
            </a:r>
            <a:r>
              <a:rPr lang="en-IN" sz="1600" dirty="0">
                <a:latin typeface="Consolas" panose="020B0609020204030204" pitchFamily="49" charset="0"/>
              </a:rPr>
              <a:t>d-</a:t>
            </a:r>
            <a:r>
              <a:rPr lang="en-IN" sz="1600" dirty="0" err="1">
                <a:latin typeface="Consolas" panose="020B0609020204030204" pitchFamily="49" charset="0"/>
              </a:rPr>
              <a:t>lg</a:t>
            </a:r>
            <a:r>
              <a:rPr lang="en-IN" sz="1600" dirty="0">
                <a:latin typeface="Consolas" panose="020B0609020204030204" pitchFamily="49" charset="0"/>
              </a:rPr>
              <a:t>-none: Hides the element on large screens (≥992px) and larger</a:t>
            </a:r>
            <a:r>
              <a:rPr lang="en-IN" sz="1600" dirty="0" smtClean="0">
                <a:latin typeface="Consolas" panose="020B0609020204030204" pitchFamily="49" charset="0"/>
              </a:rPr>
              <a:t>.</a:t>
            </a:r>
          </a:p>
          <a:p>
            <a:endParaRPr lang="en-IN" sz="1600" dirty="0">
              <a:latin typeface="Consolas" panose="020B0609020204030204" pitchFamily="49" charset="0"/>
            </a:endParaRPr>
          </a:p>
          <a:p>
            <a:r>
              <a:rPr lang="en-IN" sz="1600" dirty="0" smtClean="0">
                <a:latin typeface="Consolas" panose="020B0609020204030204" pitchFamily="49" charset="0"/>
              </a:rPr>
              <a:t>.</a:t>
            </a:r>
            <a:r>
              <a:rPr lang="en-IN" sz="1600" dirty="0">
                <a:latin typeface="Consolas" panose="020B0609020204030204" pitchFamily="49" charset="0"/>
              </a:rPr>
              <a:t>d-xl-none: Hides the element on extra-large screens (≥1200px) and larger.</a:t>
            </a:r>
            <a:endParaRPr lang="en-IN" sz="1600" b="0" dirty="0">
              <a:effectLst/>
              <a:latin typeface="Consolas" panose="020B0609020204030204" pitchFamily="49" charset="0"/>
            </a:endParaRPr>
          </a:p>
        </p:txBody>
      </p:sp>
    </p:spTree>
    <p:extLst>
      <p:ext uri="{BB962C8B-B14F-4D97-AF65-F5344CB8AC3E}">
        <p14:creationId xmlns:p14="http://schemas.microsoft.com/office/powerpoint/2010/main" val="49882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4388" y="1000125"/>
            <a:ext cx="10539412" cy="5176838"/>
          </a:xfrm>
        </p:spPr>
        <p:txBody>
          <a:bodyPr/>
          <a:lstStyle/>
          <a:p>
            <a:r>
              <a:rPr lang="en-IN" b="1" dirty="0"/>
              <a:t>Example </a:t>
            </a:r>
            <a:r>
              <a:rPr lang="en-IN" b="1" dirty="0" smtClean="0"/>
              <a:t>:create a responsive page to hide columns on different size of  screen :</a:t>
            </a:r>
          </a:p>
          <a:p>
            <a:endParaRPr lang="en-IN" dirty="0" smtClean="0"/>
          </a:p>
          <a:p>
            <a:r>
              <a:rPr lang="en-US" b="1" dirty="0" smtClean="0"/>
              <a:t>col</a:t>
            </a:r>
            <a:r>
              <a:rPr lang="en-US" b="1" dirty="0"/>
              <a:t> </a:t>
            </a:r>
            <a:r>
              <a:rPr lang="en-US" b="1" dirty="0" smtClean="0"/>
              <a:t>1- </a:t>
            </a:r>
            <a:r>
              <a:rPr lang="en-US" dirty="0" smtClean="0"/>
              <a:t>This </a:t>
            </a:r>
            <a:r>
              <a:rPr lang="en-US" dirty="0"/>
              <a:t>column is hidden on extra small and small screens, visible on medium and larger screens.</a:t>
            </a:r>
          </a:p>
          <a:p>
            <a:r>
              <a:rPr lang="en-US" b="1" dirty="0"/>
              <a:t>col </a:t>
            </a:r>
            <a:r>
              <a:rPr lang="en-US" b="1" dirty="0" smtClean="0"/>
              <a:t>2-</a:t>
            </a:r>
            <a:r>
              <a:rPr lang="en-US" dirty="0"/>
              <a:t> This column is hidden on extra small, small, and medium screens, visible on large and extra-large screens.</a:t>
            </a:r>
          </a:p>
          <a:p>
            <a:r>
              <a:rPr lang="en-US" b="1" dirty="0"/>
              <a:t>col </a:t>
            </a:r>
            <a:r>
              <a:rPr lang="en-US" b="1" dirty="0" smtClean="0"/>
              <a:t>3- </a:t>
            </a:r>
            <a:r>
              <a:rPr lang="en-US" dirty="0"/>
              <a:t> </a:t>
            </a:r>
            <a:r>
              <a:rPr lang="en-US" dirty="0" smtClean="0"/>
              <a:t>This </a:t>
            </a:r>
            <a:r>
              <a:rPr lang="en-US" dirty="0"/>
              <a:t>column is visible on all screen sizes.</a:t>
            </a:r>
          </a:p>
          <a:p>
            <a:pPr marL="0" indent="0">
              <a:buNone/>
            </a:pPr>
            <a:endParaRPr lang="en-US" dirty="0"/>
          </a:p>
          <a:p>
            <a:endParaRPr lang="en-US" dirty="0"/>
          </a:p>
          <a:p>
            <a:endParaRPr lang="en-IN" dirty="0"/>
          </a:p>
          <a:p>
            <a:pPr marL="0" indent="0">
              <a:buNone/>
            </a:pPr>
            <a:endParaRPr lang="en-IN" dirty="0"/>
          </a:p>
        </p:txBody>
      </p:sp>
    </p:spTree>
    <p:extLst>
      <p:ext uri="{BB962C8B-B14F-4D97-AF65-F5344CB8AC3E}">
        <p14:creationId xmlns:p14="http://schemas.microsoft.com/office/powerpoint/2010/main" val="1295097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02520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system Summary</a:t>
            </a:r>
            <a:endParaRPr lang="en-IN" dirty="0"/>
          </a:p>
        </p:txBody>
      </p:sp>
      <p:sp>
        <p:nvSpPr>
          <p:cNvPr id="3" name="Content Placeholder 2"/>
          <p:cNvSpPr>
            <a:spLocks noGrp="1"/>
          </p:cNvSpPr>
          <p:nvPr>
            <p:ph idx="1"/>
          </p:nvPr>
        </p:nvSpPr>
        <p:spPr/>
        <p:txBody>
          <a:bodyPr/>
          <a:lstStyle/>
          <a:p>
            <a:pPr lvl="0"/>
            <a:r>
              <a:rPr lang="en-IN" b="1" dirty="0"/>
              <a:t>.row</a:t>
            </a:r>
            <a:r>
              <a:rPr lang="en-IN" dirty="0"/>
              <a:t> creates a row that holds columns.</a:t>
            </a:r>
          </a:p>
          <a:p>
            <a:pPr lvl="0"/>
            <a:r>
              <a:rPr lang="en-IN" b="1" dirty="0"/>
              <a:t>.col-*</a:t>
            </a:r>
            <a:r>
              <a:rPr lang="en-IN" dirty="0"/>
              <a:t> defines column widths.</a:t>
            </a:r>
          </a:p>
          <a:p>
            <a:pPr lvl="0"/>
            <a:r>
              <a:rPr lang="en-IN" b="1" dirty="0"/>
              <a:t>Breakpoints</a:t>
            </a:r>
            <a:r>
              <a:rPr lang="en-IN" dirty="0"/>
              <a:t> help you adjust the layout based on screen size.</a:t>
            </a:r>
          </a:p>
          <a:p>
            <a:pPr lvl="0"/>
            <a:r>
              <a:rPr lang="en-IN" b="1" dirty="0" smtClean="0"/>
              <a:t>Nesting </a:t>
            </a:r>
            <a:r>
              <a:rPr lang="en-IN" b="1" dirty="0"/>
              <a:t>columns</a:t>
            </a:r>
            <a:r>
              <a:rPr lang="en-IN" dirty="0"/>
              <a:t> creates more complex structures.</a:t>
            </a:r>
          </a:p>
          <a:p>
            <a:pPr lvl="0"/>
            <a:r>
              <a:rPr lang="en-IN" b="1" dirty="0"/>
              <a:t>Column alignment</a:t>
            </a:r>
            <a:r>
              <a:rPr lang="en-IN" dirty="0"/>
              <a:t> allows you to </a:t>
            </a:r>
            <a:r>
              <a:rPr lang="en-IN" dirty="0" err="1"/>
              <a:t>center</a:t>
            </a:r>
            <a:r>
              <a:rPr lang="en-IN" dirty="0"/>
              <a:t> and align content easily.</a:t>
            </a:r>
          </a:p>
          <a:p>
            <a:endParaRPr lang="en-IN" dirty="0"/>
          </a:p>
        </p:txBody>
      </p:sp>
    </p:spTree>
    <p:extLst>
      <p:ext uri="{BB962C8B-B14F-4D97-AF65-F5344CB8AC3E}">
        <p14:creationId xmlns:p14="http://schemas.microsoft.com/office/powerpoint/2010/main" val="561560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5AD3B-E86F-400A-56E5-F9376EB3FCAD}"/>
              </a:ext>
            </a:extLst>
          </p:cNvPr>
          <p:cNvSpPr>
            <a:spLocks noGrp="1"/>
          </p:cNvSpPr>
          <p:nvPr>
            <p:ph type="title"/>
          </p:nvPr>
        </p:nvSpPr>
        <p:spPr/>
        <p:txBody>
          <a:bodyPr>
            <a:normAutofit fontScale="90000"/>
          </a:bodyPr>
          <a:lstStyle/>
          <a:p>
            <a:r>
              <a:rPr lang="en-US" b="1" i="0" dirty="0">
                <a:solidFill>
                  <a:srgbClr val="273239"/>
                </a:solidFill>
                <a:effectLst/>
                <a:latin typeface="sofia-pro"/>
              </a:rPr>
              <a:t>Containers in Bootstrap with examples</a:t>
            </a:r>
            <a:br>
              <a:rPr lang="en-US" b="1" i="0" dirty="0">
                <a:solidFill>
                  <a:srgbClr val="273239"/>
                </a:solidFill>
                <a:effectLst/>
                <a:latin typeface="sofia-pro"/>
              </a:rPr>
            </a:br>
            <a:endParaRPr lang="en-IN" dirty="0"/>
          </a:p>
        </p:txBody>
      </p:sp>
      <p:sp>
        <p:nvSpPr>
          <p:cNvPr id="3" name="Content Placeholder 2">
            <a:extLst>
              <a:ext uri="{FF2B5EF4-FFF2-40B4-BE49-F238E27FC236}">
                <a16:creationId xmlns:a16="http://schemas.microsoft.com/office/drawing/2014/main" id="{5F75D92F-E6DA-A894-FE01-44E1ADE43192}"/>
              </a:ext>
            </a:extLst>
          </p:cNvPr>
          <p:cNvSpPr>
            <a:spLocks noGrp="1"/>
          </p:cNvSpPr>
          <p:nvPr>
            <p:ph idx="1"/>
          </p:nvPr>
        </p:nvSpPr>
        <p:spPr/>
        <p:txBody>
          <a:bodyPr/>
          <a:lstStyle/>
          <a:p>
            <a:pPr algn="just" fontAlgn="base"/>
            <a:r>
              <a:rPr lang="en-US" b="0" i="0" dirty="0">
                <a:solidFill>
                  <a:srgbClr val="273239"/>
                </a:solidFill>
                <a:effectLst/>
                <a:latin typeface="urw-din"/>
              </a:rPr>
              <a:t>In bootstrap, the </a:t>
            </a:r>
            <a:r>
              <a:rPr lang="en-US" b="1" i="0" dirty="0">
                <a:solidFill>
                  <a:srgbClr val="273239"/>
                </a:solidFill>
                <a:effectLst/>
                <a:latin typeface="urw-din"/>
              </a:rPr>
              <a:t>container </a:t>
            </a:r>
            <a:r>
              <a:rPr lang="en-US" b="0" i="0" dirty="0">
                <a:solidFill>
                  <a:srgbClr val="273239"/>
                </a:solidFill>
                <a:effectLst/>
                <a:latin typeface="urw-din"/>
              </a:rPr>
              <a:t>is used to set the content’s margin. It contains row elements and the row elements are containers of columns. This is known as the grid system. </a:t>
            </a:r>
            <a:br>
              <a:rPr lang="en-US" b="0" i="0" dirty="0">
                <a:solidFill>
                  <a:srgbClr val="273239"/>
                </a:solidFill>
                <a:effectLst/>
                <a:latin typeface="urw-din"/>
              </a:rPr>
            </a:br>
            <a:r>
              <a:rPr lang="en-US" b="0" i="0" dirty="0">
                <a:solidFill>
                  <a:srgbClr val="273239"/>
                </a:solidFill>
                <a:effectLst/>
                <a:latin typeface="urw-din"/>
              </a:rPr>
              <a:t>There are two container classes in bootstrap:  </a:t>
            </a:r>
            <a:endParaRPr lang="en-US" b="0" i="0" dirty="0" smtClean="0">
              <a:solidFill>
                <a:srgbClr val="273239"/>
              </a:solidFill>
              <a:effectLst/>
              <a:latin typeface="urw-din"/>
            </a:endParaRPr>
          </a:p>
          <a:p>
            <a:pPr algn="just" fontAlgn="base"/>
            <a:endParaRPr lang="en-US" b="0" i="0" dirty="0">
              <a:solidFill>
                <a:srgbClr val="273239"/>
              </a:solidFill>
              <a:effectLst/>
              <a:latin typeface="urw-din"/>
            </a:endParaRPr>
          </a:p>
          <a:p>
            <a:pPr marL="0" lvl="0" indent="0" eaLnBrk="0" fontAlgn="base" hangingPunct="0">
              <a:lnSpc>
                <a:spcPct val="100000"/>
              </a:lnSpc>
              <a:spcBef>
                <a:spcPct val="0"/>
              </a:spcBef>
              <a:spcAft>
                <a:spcPct val="0"/>
              </a:spcAft>
              <a:buNone/>
            </a:pPr>
            <a:r>
              <a:rPr lang="en-US" altLang="en-US" b="1" dirty="0">
                <a:solidFill>
                  <a:srgbClr val="273239"/>
                </a:solidFill>
                <a:latin typeface="urw-din"/>
              </a:rPr>
              <a:t>container</a:t>
            </a:r>
            <a:r>
              <a:rPr lang="en-US" altLang="en-US" dirty="0">
                <a:solidFill>
                  <a:srgbClr val="273239"/>
                </a:solidFill>
                <a:latin typeface="urw-din"/>
              </a:rPr>
              <a:t> – A fixed-width container with responsive padding.</a:t>
            </a:r>
          </a:p>
          <a:p>
            <a:pPr marL="0" lvl="0" indent="0" eaLnBrk="0" fontAlgn="base" hangingPunct="0">
              <a:lnSpc>
                <a:spcPct val="100000"/>
              </a:lnSpc>
              <a:spcBef>
                <a:spcPct val="0"/>
              </a:spcBef>
              <a:spcAft>
                <a:spcPct val="0"/>
              </a:spcAft>
              <a:buNone/>
            </a:pPr>
            <a:r>
              <a:rPr lang="en-US" altLang="en-US" b="1" dirty="0" smtClean="0">
                <a:solidFill>
                  <a:srgbClr val="273239"/>
                </a:solidFill>
                <a:latin typeface="urw-din"/>
              </a:rPr>
              <a:t>container-fluid</a:t>
            </a:r>
            <a:r>
              <a:rPr lang="en-US" altLang="en-US" dirty="0" smtClean="0">
                <a:solidFill>
                  <a:srgbClr val="273239"/>
                </a:solidFill>
                <a:latin typeface="urw-din"/>
              </a:rPr>
              <a:t> </a:t>
            </a:r>
            <a:r>
              <a:rPr lang="en-US" altLang="en-US" dirty="0">
                <a:solidFill>
                  <a:srgbClr val="273239"/>
                </a:solidFill>
                <a:latin typeface="urw-din"/>
              </a:rPr>
              <a:t>– A full-width container that spans the entire width of the viewport. </a:t>
            </a:r>
          </a:p>
          <a:p>
            <a:endParaRPr lang="en-US" dirty="0" smtClean="0"/>
          </a:p>
          <a:p>
            <a:pPr marL="0" indent="0">
              <a:buNone/>
            </a:pPr>
            <a:endParaRPr lang="en-IN" dirty="0"/>
          </a:p>
        </p:txBody>
      </p:sp>
    </p:spTree>
    <p:extLst>
      <p:ext uri="{BB962C8B-B14F-4D97-AF65-F5344CB8AC3E}">
        <p14:creationId xmlns:p14="http://schemas.microsoft.com/office/powerpoint/2010/main" val="10812429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239" t="-1" r="3309" b="30310"/>
          <a:stretch/>
        </p:blipFill>
        <p:spPr bwMode="auto">
          <a:xfrm>
            <a:off x="654818" y="727675"/>
            <a:ext cx="11003781" cy="595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54819" y="175736"/>
            <a:ext cx="10003656" cy="523220"/>
          </a:xfrm>
          <a:prstGeom prst="rect">
            <a:avLst/>
          </a:prstGeom>
        </p:spPr>
        <p:txBody>
          <a:bodyPr wrap="square">
            <a:spAutoFit/>
          </a:bodyPr>
          <a:lstStyle/>
          <a:p>
            <a:r>
              <a:rPr lang="en-IN" sz="2800" dirty="0" smtClean="0"/>
              <a:t>Example of a  container div  </a:t>
            </a:r>
            <a:endParaRPr lang="en-IN" sz="2800" dirty="0"/>
          </a:p>
        </p:txBody>
      </p:sp>
    </p:spTree>
    <p:extLst>
      <p:ext uri="{BB962C8B-B14F-4D97-AF65-F5344CB8AC3E}">
        <p14:creationId xmlns:p14="http://schemas.microsoft.com/office/powerpoint/2010/main" val="17322768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819" y="1200151"/>
            <a:ext cx="11080409"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54819" y="175736"/>
            <a:ext cx="10003656" cy="523220"/>
          </a:xfrm>
          <a:prstGeom prst="rect">
            <a:avLst/>
          </a:prstGeom>
        </p:spPr>
        <p:txBody>
          <a:bodyPr wrap="square">
            <a:spAutoFit/>
          </a:bodyPr>
          <a:lstStyle/>
          <a:p>
            <a:r>
              <a:rPr lang="en-IN" sz="2800" dirty="0" smtClean="0"/>
              <a:t>Example of a  Container-fluid  div  </a:t>
            </a:r>
            <a:endParaRPr lang="en-IN" sz="2800" dirty="0"/>
          </a:p>
        </p:txBody>
      </p:sp>
    </p:spTree>
    <p:extLst>
      <p:ext uri="{BB962C8B-B14F-4D97-AF65-F5344CB8AC3E}">
        <p14:creationId xmlns:p14="http://schemas.microsoft.com/office/powerpoint/2010/main" val="19049174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8256B-FBFE-4001-1CCE-9E80B001775A}"/>
              </a:ext>
            </a:extLst>
          </p:cNvPr>
          <p:cNvSpPr>
            <a:spLocks noGrp="1"/>
          </p:cNvSpPr>
          <p:nvPr>
            <p:ph type="title"/>
          </p:nvPr>
        </p:nvSpPr>
        <p:spPr/>
        <p:txBody>
          <a:bodyPr/>
          <a:lstStyle/>
          <a:p>
            <a:r>
              <a:rPr lang="en-IN" b="1" i="0" dirty="0">
                <a:solidFill>
                  <a:srgbClr val="273239"/>
                </a:solidFill>
                <a:effectLst/>
                <a:latin typeface="sofia-pro"/>
              </a:rPr>
              <a:t>Navigation Bar</a:t>
            </a:r>
            <a:br>
              <a:rPr lang="en-IN" b="1" i="0" dirty="0">
                <a:solidFill>
                  <a:srgbClr val="273239"/>
                </a:solidFill>
                <a:effectLst/>
                <a:latin typeface="sofia-pro"/>
              </a:rPr>
            </a:br>
            <a:endParaRPr lang="en-IN" dirty="0"/>
          </a:p>
        </p:txBody>
      </p:sp>
      <p:sp>
        <p:nvSpPr>
          <p:cNvPr id="3" name="Content Placeholder 2">
            <a:extLst>
              <a:ext uri="{FF2B5EF4-FFF2-40B4-BE49-F238E27FC236}">
                <a16:creationId xmlns:a16="http://schemas.microsoft.com/office/drawing/2014/main" id="{D70483CF-2A05-9958-CECB-44795EEA6021}"/>
              </a:ext>
            </a:extLst>
          </p:cNvPr>
          <p:cNvSpPr>
            <a:spLocks noGrp="1"/>
          </p:cNvSpPr>
          <p:nvPr>
            <p:ph idx="1"/>
          </p:nvPr>
        </p:nvSpPr>
        <p:spPr>
          <a:xfrm>
            <a:off x="838200" y="1357313"/>
            <a:ext cx="10515600" cy="4819650"/>
          </a:xfrm>
        </p:spPr>
        <p:txBody>
          <a:bodyPr>
            <a:normAutofit fontScale="92500" lnSpcReduction="10000"/>
          </a:bodyPr>
          <a:lstStyle/>
          <a:p>
            <a:r>
              <a:rPr lang="en-US" b="0" i="0" dirty="0">
                <a:solidFill>
                  <a:srgbClr val="273239"/>
                </a:solidFill>
                <a:effectLst/>
                <a:latin typeface="urw-din"/>
              </a:rPr>
              <a:t>A navigation bar is used in every website to make it more user-friendly so that the navigation through the website becomes easy and the user can directly search for the topic of their interest. The navigation bar is placed at the top of the page</a:t>
            </a:r>
            <a:r>
              <a:rPr lang="en-US" b="0" i="0" dirty="0" smtClean="0">
                <a:solidFill>
                  <a:srgbClr val="273239"/>
                </a:solidFill>
                <a:effectLst/>
                <a:latin typeface="urw-din"/>
              </a:rPr>
              <a:t>.</a:t>
            </a:r>
          </a:p>
          <a:p>
            <a:r>
              <a:rPr lang="en-US" dirty="0" smtClean="0">
                <a:solidFill>
                  <a:srgbClr val="273239"/>
                </a:solidFill>
                <a:latin typeface="urw-din"/>
              </a:rPr>
              <a:t>Include popper.min.js </a:t>
            </a:r>
            <a:r>
              <a:rPr lang="en-US" dirty="0">
                <a:solidFill>
                  <a:srgbClr val="273239"/>
                </a:solidFill>
                <a:latin typeface="urw-din"/>
              </a:rPr>
              <a:t>for </a:t>
            </a:r>
            <a:r>
              <a:rPr lang="en-US" dirty="0" smtClean="0">
                <a:solidFill>
                  <a:srgbClr val="273239"/>
                </a:solidFill>
                <a:latin typeface="urw-din"/>
              </a:rPr>
              <a:t>:</a:t>
            </a:r>
          </a:p>
          <a:p>
            <a:pPr lvl="1"/>
            <a:r>
              <a:rPr lang="en-US" dirty="0" smtClean="0">
                <a:solidFill>
                  <a:srgbClr val="273239"/>
                </a:solidFill>
                <a:latin typeface="urw-din"/>
              </a:rPr>
              <a:t>Dropdowns </a:t>
            </a:r>
            <a:r>
              <a:rPr lang="en-US" dirty="0">
                <a:solidFill>
                  <a:srgbClr val="273239"/>
                </a:solidFill>
                <a:latin typeface="urw-din"/>
              </a:rPr>
              <a:t>(the menu that opens on clicking a button or link)</a:t>
            </a:r>
          </a:p>
          <a:p>
            <a:pPr lvl="1"/>
            <a:r>
              <a:rPr lang="en-US" dirty="0">
                <a:solidFill>
                  <a:srgbClr val="273239"/>
                </a:solidFill>
                <a:latin typeface="urw-din"/>
              </a:rPr>
              <a:t>Tooltips (small informational popups that appear when you hover over elements)</a:t>
            </a:r>
          </a:p>
          <a:p>
            <a:pPr lvl="1"/>
            <a:r>
              <a:rPr lang="en-US" dirty="0">
                <a:solidFill>
                  <a:srgbClr val="273239"/>
                </a:solidFill>
                <a:latin typeface="urw-din"/>
              </a:rPr>
              <a:t>Popovers (similar to tooltips but more customizable)</a:t>
            </a:r>
          </a:p>
          <a:p>
            <a:pPr lvl="1"/>
            <a:r>
              <a:rPr lang="en-US" dirty="0">
                <a:solidFill>
                  <a:srgbClr val="273239"/>
                </a:solidFill>
                <a:latin typeface="urw-din"/>
              </a:rPr>
              <a:t>Modals (for positioning content on the screen)</a:t>
            </a:r>
            <a:endParaRPr lang="en-US" dirty="0" smtClean="0">
              <a:solidFill>
                <a:srgbClr val="273239"/>
              </a:solidFill>
              <a:latin typeface="urw-din"/>
            </a:endParaRPr>
          </a:p>
          <a:p>
            <a:pPr marL="0" indent="0">
              <a:buNone/>
            </a:pPr>
            <a:r>
              <a:rPr lang="en-IN" dirty="0"/>
              <a:t>&lt;script </a:t>
            </a:r>
            <a:r>
              <a:rPr lang="en-IN" dirty="0" err="1"/>
              <a:t>src</a:t>
            </a:r>
            <a:r>
              <a:rPr lang="en-IN" dirty="0"/>
              <a:t>="https://cdn.jsdelivr.net/</a:t>
            </a:r>
            <a:r>
              <a:rPr lang="en-IN" dirty="0" err="1"/>
              <a:t>npm</a:t>
            </a:r>
            <a:r>
              <a:rPr lang="en-IN" dirty="0"/>
              <a:t>/@</a:t>
            </a:r>
            <a:r>
              <a:rPr lang="en-IN" dirty="0" err="1"/>
              <a:t>popperjs</a:t>
            </a:r>
            <a:r>
              <a:rPr lang="en-IN" dirty="0"/>
              <a:t>/core@2.11.6/</a:t>
            </a:r>
            <a:r>
              <a:rPr lang="en-IN" dirty="0" err="1"/>
              <a:t>dist</a:t>
            </a:r>
            <a:r>
              <a:rPr lang="en-IN" dirty="0"/>
              <a:t>/</a:t>
            </a:r>
            <a:r>
              <a:rPr lang="en-IN" dirty="0" err="1"/>
              <a:t>umd</a:t>
            </a:r>
            <a:r>
              <a:rPr lang="en-IN" dirty="0"/>
              <a:t>/popper.min.js"&gt;&lt;/script&gt;</a:t>
            </a:r>
          </a:p>
          <a:p>
            <a:endParaRPr lang="en-IN" dirty="0"/>
          </a:p>
        </p:txBody>
      </p:sp>
    </p:spTree>
    <p:extLst>
      <p:ext uri="{BB962C8B-B14F-4D97-AF65-F5344CB8AC3E}">
        <p14:creationId xmlns:p14="http://schemas.microsoft.com/office/powerpoint/2010/main" val="10135957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AB7AF-2EEC-6CA7-0AFD-FAC0D5D28C4D}"/>
              </a:ext>
            </a:extLst>
          </p:cNvPr>
          <p:cNvSpPr>
            <a:spLocks noGrp="1"/>
          </p:cNvSpPr>
          <p:nvPr>
            <p:ph type="title"/>
          </p:nvPr>
        </p:nvSpPr>
        <p:spPr/>
        <p:txBody>
          <a:bodyPr/>
          <a:lstStyle/>
          <a:p>
            <a:r>
              <a:rPr lang="en-US" b="1" dirty="0" smtClean="0">
                <a:solidFill>
                  <a:srgbClr val="273239"/>
                </a:solidFill>
                <a:latin typeface="urw-din"/>
              </a:rPr>
              <a:t>Basic </a:t>
            </a:r>
            <a:r>
              <a:rPr lang="en-US" b="1" dirty="0">
                <a:solidFill>
                  <a:srgbClr val="273239"/>
                </a:solidFill>
                <a:latin typeface="urw-din"/>
              </a:rPr>
              <a:t>Navigation Bar</a:t>
            </a:r>
            <a:endParaRPr lang="en-IN" dirty="0"/>
          </a:p>
        </p:txBody>
      </p:sp>
      <p:sp>
        <p:nvSpPr>
          <p:cNvPr id="3" name="Content Placeholder 2">
            <a:extLst>
              <a:ext uri="{FF2B5EF4-FFF2-40B4-BE49-F238E27FC236}">
                <a16:creationId xmlns:a16="http://schemas.microsoft.com/office/drawing/2014/main" id="{FEE361DB-9175-A811-4096-EE8B47F41633}"/>
              </a:ext>
            </a:extLst>
          </p:cNvPr>
          <p:cNvSpPr>
            <a:spLocks noGrp="1"/>
          </p:cNvSpPr>
          <p:nvPr>
            <p:ph idx="1"/>
          </p:nvPr>
        </p:nvSpPr>
        <p:spPr/>
        <p:txBody>
          <a:bodyPr>
            <a:normAutofit fontScale="92500" lnSpcReduction="10000"/>
          </a:bodyPr>
          <a:lstStyle/>
          <a:p>
            <a:r>
              <a:rPr lang="en-US" dirty="0" err="1" smtClean="0"/>
              <a:t>navbar</a:t>
            </a:r>
            <a:r>
              <a:rPr lang="en-US" dirty="0" smtClean="0"/>
              <a:t> </a:t>
            </a:r>
            <a:r>
              <a:rPr lang="en-US" dirty="0" err="1"/>
              <a:t>navbar</a:t>
            </a:r>
            <a:r>
              <a:rPr lang="en-US" dirty="0"/>
              <a:t>-expand-</a:t>
            </a:r>
            <a:r>
              <a:rPr lang="en-US" dirty="0" err="1"/>
              <a:t>lg</a:t>
            </a:r>
            <a:r>
              <a:rPr lang="en-US" dirty="0"/>
              <a:t> </a:t>
            </a:r>
            <a:r>
              <a:rPr lang="en-US" dirty="0" err="1"/>
              <a:t>navbar</a:t>
            </a:r>
            <a:r>
              <a:rPr lang="en-US" dirty="0"/>
              <a:t>-light </a:t>
            </a:r>
            <a:r>
              <a:rPr lang="en-US" dirty="0" err="1"/>
              <a:t>bg</a:t>
            </a:r>
            <a:r>
              <a:rPr lang="en-US" dirty="0"/>
              <a:t>-light: This creates a light-colored navigation bar. </a:t>
            </a:r>
            <a:endParaRPr lang="en-US" dirty="0" smtClean="0"/>
          </a:p>
          <a:p>
            <a:r>
              <a:rPr lang="en-US" dirty="0" smtClean="0"/>
              <a:t>The </a:t>
            </a:r>
            <a:r>
              <a:rPr lang="en-US" dirty="0" err="1"/>
              <a:t>navbar</a:t>
            </a:r>
            <a:r>
              <a:rPr lang="en-US" dirty="0"/>
              <a:t>-expand-</a:t>
            </a:r>
            <a:r>
              <a:rPr lang="en-US" dirty="0" err="1"/>
              <a:t>lg</a:t>
            </a:r>
            <a:r>
              <a:rPr lang="en-US" dirty="0"/>
              <a:t> class makes it responsive, so it will collapse into a hamburger menu on smaller screens.</a:t>
            </a:r>
          </a:p>
          <a:p>
            <a:r>
              <a:rPr lang="en-US" dirty="0" err="1"/>
              <a:t>navbar</a:t>
            </a:r>
            <a:r>
              <a:rPr lang="en-US" dirty="0"/>
              <a:t>-brand: This is your brand/logo link.</a:t>
            </a:r>
          </a:p>
          <a:p>
            <a:r>
              <a:rPr lang="en-US" dirty="0" err="1"/>
              <a:t>navbar-toggler</a:t>
            </a:r>
            <a:r>
              <a:rPr lang="en-US" dirty="0"/>
              <a:t>: This button will appear on smaller screens to toggle the collapsible menu (the hamburger icon).</a:t>
            </a:r>
          </a:p>
          <a:p>
            <a:r>
              <a:rPr lang="en-US" dirty="0" err="1"/>
              <a:t>navbar</a:t>
            </a:r>
            <a:r>
              <a:rPr lang="en-US" dirty="0"/>
              <a:t>-collapse: This is the collapsible part of the </a:t>
            </a:r>
            <a:r>
              <a:rPr lang="en-US" dirty="0" err="1"/>
              <a:t>navbar</a:t>
            </a:r>
            <a:r>
              <a:rPr lang="en-US" dirty="0"/>
              <a:t> that includes the navigation links.</a:t>
            </a:r>
          </a:p>
          <a:p>
            <a:r>
              <a:rPr lang="en-US" dirty="0" err="1"/>
              <a:t>nav</a:t>
            </a:r>
            <a:r>
              <a:rPr lang="en-US" dirty="0"/>
              <a:t>-item: This class is applied to each list item inside the navigation bar.</a:t>
            </a:r>
          </a:p>
          <a:p>
            <a:r>
              <a:rPr lang="en-US" dirty="0" err="1"/>
              <a:t>nav</a:t>
            </a:r>
            <a:r>
              <a:rPr lang="en-US" dirty="0"/>
              <a:t>-link: This is applied to each anchor tag (&lt;a&gt;) to style the links. </a:t>
            </a:r>
          </a:p>
        </p:txBody>
      </p:sp>
    </p:spTree>
    <p:extLst>
      <p:ext uri="{BB962C8B-B14F-4D97-AF65-F5344CB8AC3E}">
        <p14:creationId xmlns:p14="http://schemas.microsoft.com/office/powerpoint/2010/main" val="16006202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1825625"/>
            <a:ext cx="10515600" cy="1512209"/>
          </a:xfrm>
          <a:prstGeom prst="rect">
            <a:avLst/>
          </a:prstGeom>
        </p:spPr>
        <p:txBody>
          <a:bodyPr wrap="square">
            <a:spAutoFit/>
          </a:bodyPr>
          <a:lstStyle/>
          <a:p>
            <a:r>
              <a:rPr lang="en-IN" sz="2800" dirty="0" smtClean="0"/>
              <a:t>Design a  Example to show a  simple </a:t>
            </a:r>
            <a:r>
              <a:rPr lang="en-IN" sz="2800" dirty="0" err="1" smtClean="0"/>
              <a:t>Navbar</a:t>
            </a:r>
            <a:endParaRPr lang="en-IN" sz="2800" dirty="0" smtClean="0"/>
          </a:p>
          <a:p>
            <a:r>
              <a:rPr lang="en-IN" dirty="0"/>
              <a:t>Design a  Example to show a </a:t>
            </a:r>
            <a:r>
              <a:rPr lang="en-US" dirty="0" smtClean="0"/>
              <a:t>vertical </a:t>
            </a:r>
            <a:r>
              <a:rPr lang="en-US" dirty="0" err="1" smtClean="0"/>
              <a:t>navbar</a:t>
            </a:r>
            <a:endParaRPr lang="en-US" dirty="0" smtClean="0"/>
          </a:p>
          <a:p>
            <a:r>
              <a:rPr lang="en-IN" dirty="0"/>
              <a:t>Design a  Example to show a </a:t>
            </a:r>
            <a:r>
              <a:rPr lang="en-US" sz="2800" dirty="0" smtClean="0"/>
              <a:t>dropdown </a:t>
            </a:r>
            <a:r>
              <a:rPr lang="en-US" sz="2800" dirty="0" err="1" smtClean="0"/>
              <a:t>navbar</a:t>
            </a:r>
            <a:endParaRPr lang="en-IN" sz="2800" dirty="0"/>
          </a:p>
        </p:txBody>
      </p:sp>
    </p:spTree>
    <p:extLst>
      <p:ext uri="{BB962C8B-B14F-4D97-AF65-F5344CB8AC3E}">
        <p14:creationId xmlns:p14="http://schemas.microsoft.com/office/powerpoint/2010/main" val="440368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a:srcRect l="8971" t="14062" r="5441" b="10677"/>
          <a:stretch/>
        </p:blipFill>
        <p:spPr>
          <a:xfrm>
            <a:off x="723901" y="985838"/>
            <a:ext cx="11087100" cy="5505450"/>
          </a:xfrm>
          <a:prstGeom prst="rect">
            <a:avLst/>
          </a:prstGeom>
        </p:spPr>
      </p:pic>
    </p:spTree>
    <p:extLst>
      <p:ext uri="{BB962C8B-B14F-4D97-AF65-F5344CB8AC3E}">
        <p14:creationId xmlns:p14="http://schemas.microsoft.com/office/powerpoint/2010/main" val="14100756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AD2371-1ABF-11AB-FEE7-FF2DF8157D62}"/>
              </a:ext>
            </a:extLst>
          </p:cNvPr>
          <p:cNvPicPr>
            <a:picLocks noGrp="1" noChangeAspect="1"/>
          </p:cNvPicPr>
          <p:nvPr>
            <p:ph idx="1"/>
          </p:nvPr>
        </p:nvPicPr>
        <p:blipFill rotWithShape="1">
          <a:blip r:embed="rId2"/>
          <a:srcRect l="14746" t="49180" r="10474" b="29364"/>
          <a:stretch/>
        </p:blipFill>
        <p:spPr>
          <a:xfrm>
            <a:off x="834993" y="1548916"/>
            <a:ext cx="10197900" cy="2502568"/>
          </a:xfrm>
        </p:spPr>
      </p:pic>
    </p:spTree>
    <p:extLst>
      <p:ext uri="{BB962C8B-B14F-4D97-AF65-F5344CB8AC3E}">
        <p14:creationId xmlns:p14="http://schemas.microsoft.com/office/powerpoint/2010/main" val="22489701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6DA7F-6017-8C02-F129-CC7829DCE875}"/>
              </a:ext>
            </a:extLst>
          </p:cNvPr>
          <p:cNvSpPr>
            <a:spLocks noGrp="1"/>
          </p:cNvSpPr>
          <p:nvPr>
            <p:ph type="title"/>
          </p:nvPr>
        </p:nvSpPr>
        <p:spPr/>
        <p:txBody>
          <a:bodyPr/>
          <a:lstStyle/>
          <a:p>
            <a:r>
              <a:rPr lang="en-US" b="1" dirty="0" smtClean="0"/>
              <a:t>Vertical </a:t>
            </a:r>
            <a:r>
              <a:rPr lang="en-US" b="1" dirty="0" err="1" smtClean="0"/>
              <a:t>Navbar</a:t>
            </a:r>
            <a:endParaRPr lang="en-IN" b="1" dirty="0"/>
          </a:p>
        </p:txBody>
      </p:sp>
      <p:pic>
        <p:nvPicPr>
          <p:cNvPr id="5" name="Content Placeholder 4">
            <a:extLst>
              <a:ext uri="{FF2B5EF4-FFF2-40B4-BE49-F238E27FC236}">
                <a16:creationId xmlns:a16="http://schemas.microsoft.com/office/drawing/2014/main" id="{52340F20-1CD5-D03E-D761-4AE03D1D09C4}"/>
              </a:ext>
            </a:extLst>
          </p:cNvPr>
          <p:cNvPicPr>
            <a:picLocks noGrp="1" noChangeAspect="1"/>
          </p:cNvPicPr>
          <p:nvPr>
            <p:ph idx="1"/>
          </p:nvPr>
        </p:nvPicPr>
        <p:blipFill rotWithShape="1">
          <a:blip r:embed="rId2"/>
          <a:srcRect l="17607" t="40113" r="47801" b="36220"/>
          <a:stretch/>
        </p:blipFill>
        <p:spPr>
          <a:xfrm>
            <a:off x="1804135" y="1566210"/>
            <a:ext cx="7927441" cy="3368843"/>
          </a:xfrm>
        </p:spPr>
      </p:pic>
    </p:spTree>
    <p:extLst>
      <p:ext uri="{BB962C8B-B14F-4D97-AF65-F5344CB8AC3E}">
        <p14:creationId xmlns:p14="http://schemas.microsoft.com/office/powerpoint/2010/main" val="41116869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564B-F7D9-DAA4-29A2-9AE3BF1167EF}"/>
              </a:ext>
            </a:extLst>
          </p:cNvPr>
          <p:cNvSpPr>
            <a:spLocks noGrp="1"/>
          </p:cNvSpPr>
          <p:nvPr>
            <p:ph type="title"/>
          </p:nvPr>
        </p:nvSpPr>
        <p:spPr/>
        <p:txBody>
          <a:bodyPr/>
          <a:lstStyle/>
          <a:p>
            <a:r>
              <a:rPr lang="en-US" b="1" i="0" dirty="0">
                <a:solidFill>
                  <a:srgbClr val="273239"/>
                </a:solidFill>
                <a:effectLst/>
                <a:latin typeface="urw-din"/>
              </a:rPr>
              <a:t>Dropdown Navbar:</a:t>
            </a:r>
            <a:r>
              <a:rPr lang="en-US" b="0" i="0" dirty="0">
                <a:solidFill>
                  <a:srgbClr val="273239"/>
                </a:solidFill>
                <a:effectLst/>
                <a:latin typeface="urw-din"/>
              </a:rPr>
              <a:t> The navbar can be created by using dropdown menu. </a:t>
            </a:r>
            <a:endParaRPr lang="en-IN" dirty="0"/>
          </a:p>
        </p:txBody>
      </p:sp>
      <p:pic>
        <p:nvPicPr>
          <p:cNvPr id="4" name="Picture 3">
            <a:extLst>
              <a:ext uri="{FF2B5EF4-FFF2-40B4-BE49-F238E27FC236}">
                <a16:creationId xmlns:a16="http://schemas.microsoft.com/office/drawing/2014/main" id="{A0CB8168-CB85-3CC3-A949-AEB35B0EBFDE}"/>
              </a:ext>
            </a:extLst>
          </p:cNvPr>
          <p:cNvPicPr>
            <a:picLocks noChangeAspect="1"/>
          </p:cNvPicPr>
          <p:nvPr/>
        </p:nvPicPr>
        <p:blipFill rotWithShape="1">
          <a:blip r:embed="rId2"/>
          <a:srcRect l="14054" t="59089" r="40314" b="16771"/>
          <a:stretch/>
        </p:blipFill>
        <p:spPr>
          <a:xfrm>
            <a:off x="1511165" y="2345749"/>
            <a:ext cx="8643487" cy="2572110"/>
          </a:xfrm>
          <a:prstGeom prst="rect">
            <a:avLst/>
          </a:prstGeom>
        </p:spPr>
      </p:pic>
    </p:spTree>
    <p:extLst>
      <p:ext uri="{BB962C8B-B14F-4D97-AF65-F5344CB8AC3E}">
        <p14:creationId xmlns:p14="http://schemas.microsoft.com/office/powerpoint/2010/main" val="15232087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F5BAC-196D-A8B7-8B90-F3E0ACAE9210}"/>
              </a:ext>
            </a:extLst>
          </p:cNvPr>
          <p:cNvSpPr>
            <a:spLocks noGrp="1"/>
          </p:cNvSpPr>
          <p:nvPr>
            <p:ph type="title"/>
          </p:nvPr>
        </p:nvSpPr>
        <p:spPr/>
        <p:txBody>
          <a:bodyPr/>
          <a:lstStyle/>
          <a:p>
            <a:r>
              <a:rPr lang="en-US" b="0" i="0" dirty="0">
                <a:solidFill>
                  <a:srgbClr val="273239"/>
                </a:solidFill>
                <a:effectLst/>
                <a:latin typeface="urw-din"/>
              </a:rPr>
              <a:t>Carousel</a:t>
            </a:r>
            <a:endParaRPr lang="en-IN" dirty="0"/>
          </a:p>
        </p:txBody>
      </p:sp>
      <p:sp>
        <p:nvSpPr>
          <p:cNvPr id="3" name="Content Placeholder 2">
            <a:extLst>
              <a:ext uri="{FF2B5EF4-FFF2-40B4-BE49-F238E27FC236}">
                <a16:creationId xmlns:a16="http://schemas.microsoft.com/office/drawing/2014/main" id="{1776CD3A-D34C-2DEA-DC1A-E846B7C56F52}"/>
              </a:ext>
            </a:extLst>
          </p:cNvPr>
          <p:cNvSpPr>
            <a:spLocks noGrp="1"/>
          </p:cNvSpPr>
          <p:nvPr>
            <p:ph idx="1"/>
          </p:nvPr>
        </p:nvSpPr>
        <p:spPr/>
        <p:txBody>
          <a:bodyPr/>
          <a:lstStyle/>
          <a:p>
            <a:r>
              <a:rPr lang="en-US" b="0" i="0" dirty="0">
                <a:solidFill>
                  <a:srgbClr val="273239"/>
                </a:solidFill>
                <a:effectLst/>
                <a:latin typeface="urw-din"/>
              </a:rPr>
              <a:t>The Bootstrap Carousel is used to create an image slide show for the webpage to make it look more attractive. It can be included in the </a:t>
            </a:r>
            <a:r>
              <a:rPr lang="en-US" b="0" i="0" dirty="0" smtClean="0">
                <a:solidFill>
                  <a:srgbClr val="273239"/>
                </a:solidFill>
                <a:effectLst/>
                <a:latin typeface="urw-din"/>
              </a:rPr>
              <a:t>webpage using</a:t>
            </a:r>
            <a:r>
              <a:rPr lang="en-US" b="0" i="0" dirty="0">
                <a:solidFill>
                  <a:srgbClr val="273239"/>
                </a:solidFill>
                <a:effectLst/>
                <a:latin typeface="urw-din"/>
              </a:rPr>
              <a:t> </a:t>
            </a:r>
            <a:r>
              <a:rPr lang="en-US" b="1" i="0" dirty="0">
                <a:solidFill>
                  <a:srgbClr val="273239"/>
                </a:solidFill>
                <a:effectLst/>
                <a:latin typeface="urw-din"/>
              </a:rPr>
              <a:t>bootstrap.js</a:t>
            </a:r>
            <a:r>
              <a:rPr lang="en-US" b="0" i="0" dirty="0">
                <a:solidFill>
                  <a:srgbClr val="273239"/>
                </a:solidFill>
                <a:effectLst/>
                <a:latin typeface="urw-din"/>
              </a:rPr>
              <a:t> or </a:t>
            </a:r>
            <a:r>
              <a:rPr lang="en-US" b="1" i="0" dirty="0">
                <a:solidFill>
                  <a:srgbClr val="273239"/>
                </a:solidFill>
                <a:effectLst/>
                <a:latin typeface="urw-din"/>
              </a:rPr>
              <a:t>bootstrap.min.js</a:t>
            </a:r>
            <a:r>
              <a:rPr lang="en-US" b="0" i="0" dirty="0">
                <a:solidFill>
                  <a:srgbClr val="273239"/>
                </a:solidFill>
                <a:effectLst/>
                <a:latin typeface="urw-din"/>
              </a:rPr>
              <a:t>. Carousels are not supported properly in Internet Explorer, this is because they use CSS3 transitions and animations to achieve the slide effect.</a:t>
            </a:r>
            <a:endParaRPr lang="en-IN" dirty="0"/>
          </a:p>
        </p:txBody>
      </p:sp>
    </p:spTree>
    <p:extLst>
      <p:ext uri="{BB962C8B-B14F-4D97-AF65-F5344CB8AC3E}">
        <p14:creationId xmlns:p14="http://schemas.microsoft.com/office/powerpoint/2010/main" val="21826369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Basics of Carousel</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carousel container: A wrapper for the carousel.</a:t>
            </a:r>
          </a:p>
          <a:p>
            <a:r>
              <a:rPr lang="en-US" dirty="0"/>
              <a:t>carousel slide: The class carousel slide is used to indicate this is a carousel component. The data-</a:t>
            </a:r>
            <a:r>
              <a:rPr lang="en-US" dirty="0" err="1"/>
              <a:t>bs</a:t>
            </a:r>
            <a:r>
              <a:rPr lang="en-US" dirty="0"/>
              <a:t>-ride="carousel" attribute automatically starts the carousel on page load</a:t>
            </a:r>
            <a:r>
              <a:rPr lang="en-US" dirty="0" smtClean="0"/>
              <a:t>.</a:t>
            </a:r>
            <a:endParaRPr lang="en-US" dirty="0"/>
          </a:p>
          <a:p>
            <a:r>
              <a:rPr lang="en-US" dirty="0"/>
              <a:t>carousel-inner: This is the container that holds all carousel items</a:t>
            </a:r>
            <a:r>
              <a:rPr lang="en-US" dirty="0" smtClean="0"/>
              <a:t>.</a:t>
            </a:r>
            <a:endParaRPr lang="en-US" dirty="0"/>
          </a:p>
          <a:p>
            <a:r>
              <a:rPr lang="en-US" dirty="0"/>
              <a:t>carousel-item: These are the individual slides. The first slide has the class active, which makes it visible by default</a:t>
            </a:r>
            <a:r>
              <a:rPr lang="en-US" dirty="0" smtClean="0"/>
              <a:t>.</a:t>
            </a:r>
            <a:endParaRPr lang="en-US" dirty="0"/>
          </a:p>
          <a:p>
            <a:r>
              <a:rPr lang="en-US" dirty="0"/>
              <a:t>carousel-control-</a:t>
            </a:r>
            <a:r>
              <a:rPr lang="en-US" dirty="0" err="1"/>
              <a:t>prev</a:t>
            </a:r>
            <a:r>
              <a:rPr lang="en-US" dirty="0"/>
              <a:t> and carousel-control-next: These buttons allow users to navigate to the previous and next items in the carousel</a:t>
            </a:r>
            <a:r>
              <a:rPr lang="en-US" dirty="0" smtClean="0"/>
              <a:t>.</a:t>
            </a:r>
            <a:endParaRPr lang="en-US" dirty="0"/>
          </a:p>
          <a:p>
            <a:r>
              <a:rPr lang="en-US" dirty="0"/>
              <a:t>Images in the carousel: You can add any image URL to the &lt;</a:t>
            </a:r>
            <a:r>
              <a:rPr lang="en-US" dirty="0" err="1"/>
              <a:t>img</a:t>
            </a:r>
            <a:r>
              <a:rPr lang="en-US" dirty="0"/>
              <a:t>&gt; tag inside each .carousel-item. I've used placeholder images in this example.</a:t>
            </a:r>
            <a:endParaRPr lang="en-IN" dirty="0"/>
          </a:p>
        </p:txBody>
      </p:sp>
    </p:spTree>
    <p:extLst>
      <p:ext uri="{BB962C8B-B14F-4D97-AF65-F5344CB8AC3E}">
        <p14:creationId xmlns:p14="http://schemas.microsoft.com/office/powerpoint/2010/main" val="1177891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dirty="0" smtClean="0"/>
              <a:t>Example :</a:t>
            </a:r>
          </a:p>
          <a:p>
            <a:pPr marL="0" indent="0">
              <a:buNone/>
            </a:pPr>
            <a:r>
              <a:rPr lang="en-IN" dirty="0" smtClean="0"/>
              <a:t>Design </a:t>
            </a:r>
            <a:r>
              <a:rPr lang="en-IN" dirty="0"/>
              <a:t>a  </a:t>
            </a:r>
            <a:r>
              <a:rPr lang="en-IN" dirty="0" smtClean="0"/>
              <a:t>page </a:t>
            </a:r>
            <a:r>
              <a:rPr lang="en-US" dirty="0" smtClean="0"/>
              <a:t> to Show a carousel example with auto play option and image 2 as default view and with caption</a:t>
            </a:r>
            <a:endParaRPr lang="en-IN" dirty="0"/>
          </a:p>
        </p:txBody>
      </p:sp>
    </p:spTree>
    <p:extLst>
      <p:ext uri="{BB962C8B-B14F-4D97-AF65-F5344CB8AC3E}">
        <p14:creationId xmlns:p14="http://schemas.microsoft.com/office/powerpoint/2010/main" val="9633442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0E3F-5713-280C-59EF-AD11FDDE3084}"/>
              </a:ext>
            </a:extLst>
          </p:cNvPr>
          <p:cNvSpPr>
            <a:spLocks noGrp="1"/>
          </p:cNvSpPr>
          <p:nvPr>
            <p:ph type="title"/>
          </p:nvPr>
        </p:nvSpPr>
        <p:spPr/>
        <p:txBody>
          <a:bodyPr/>
          <a:lstStyle/>
          <a:p>
            <a:r>
              <a:rPr lang="en-IN" b="1" i="0" dirty="0" err="1" smtClean="0">
                <a:solidFill>
                  <a:srgbClr val="273239"/>
                </a:solidFill>
                <a:effectLst/>
                <a:latin typeface="sofia-pro"/>
              </a:rPr>
              <a:t>Glyphicons</a:t>
            </a:r>
            <a:r>
              <a:rPr lang="en-IN" b="1" i="0" dirty="0" smtClean="0">
                <a:solidFill>
                  <a:srgbClr val="273239"/>
                </a:solidFill>
                <a:effectLst/>
                <a:latin typeface="sofia-pro"/>
              </a:rPr>
              <a:t> (in older version)</a:t>
            </a:r>
            <a:r>
              <a:rPr lang="en-IN" b="1" i="0" dirty="0">
                <a:solidFill>
                  <a:srgbClr val="273239"/>
                </a:solidFill>
                <a:effectLst/>
                <a:latin typeface="sofia-pro"/>
              </a:rPr>
              <a:t/>
            </a:r>
            <a:br>
              <a:rPr lang="en-IN" b="1" i="0" dirty="0">
                <a:solidFill>
                  <a:srgbClr val="273239"/>
                </a:solidFill>
                <a:effectLst/>
                <a:latin typeface="sofia-pro"/>
              </a:rPr>
            </a:br>
            <a:endParaRPr lang="en-IN" dirty="0"/>
          </a:p>
        </p:txBody>
      </p:sp>
      <p:sp>
        <p:nvSpPr>
          <p:cNvPr id="3" name="Content Placeholder 2">
            <a:extLst>
              <a:ext uri="{FF2B5EF4-FFF2-40B4-BE49-F238E27FC236}">
                <a16:creationId xmlns:a16="http://schemas.microsoft.com/office/drawing/2014/main" id="{32D0A008-B709-347C-51A5-53DE3E9BD033}"/>
              </a:ext>
            </a:extLst>
          </p:cNvPr>
          <p:cNvSpPr>
            <a:spLocks noGrp="1"/>
          </p:cNvSpPr>
          <p:nvPr>
            <p:ph idx="1"/>
          </p:nvPr>
        </p:nvSpPr>
        <p:spPr/>
        <p:txBody>
          <a:bodyPr/>
          <a:lstStyle/>
          <a:p>
            <a:r>
              <a:rPr lang="en-IN" b="0" i="0" dirty="0">
                <a:solidFill>
                  <a:srgbClr val="273239"/>
                </a:solidFill>
                <a:effectLst/>
                <a:latin typeface="urw-din"/>
              </a:rPr>
              <a:t>Bootstrap provides set of graphic icons, symbols and fonts called </a:t>
            </a:r>
            <a:r>
              <a:rPr lang="en-IN" b="1" i="0" dirty="0" err="1">
                <a:solidFill>
                  <a:srgbClr val="273239"/>
                </a:solidFill>
                <a:effectLst/>
                <a:latin typeface="urw-din"/>
              </a:rPr>
              <a:t>Glyphicons</a:t>
            </a:r>
            <a:r>
              <a:rPr lang="en-IN" b="0" i="0" dirty="0">
                <a:solidFill>
                  <a:srgbClr val="273239"/>
                </a:solidFill>
                <a:effectLst/>
                <a:latin typeface="urw-din"/>
              </a:rPr>
              <a:t>. Some </a:t>
            </a:r>
            <a:r>
              <a:rPr lang="en-IN" b="0" i="0" dirty="0" err="1">
                <a:solidFill>
                  <a:srgbClr val="273239"/>
                </a:solidFill>
                <a:effectLst/>
                <a:latin typeface="urw-din"/>
              </a:rPr>
              <a:t>Glyphicons</a:t>
            </a:r>
            <a:r>
              <a:rPr lang="en-IN" b="0" i="0" dirty="0">
                <a:solidFill>
                  <a:srgbClr val="273239"/>
                </a:solidFill>
                <a:effectLst/>
                <a:latin typeface="urw-din"/>
              </a:rPr>
              <a:t> like Home icon, User icon, Lock icon, etc. Generally, </a:t>
            </a:r>
            <a:r>
              <a:rPr lang="en-IN" b="0" i="0" dirty="0" err="1">
                <a:solidFill>
                  <a:srgbClr val="273239"/>
                </a:solidFill>
                <a:effectLst/>
                <a:latin typeface="urw-din"/>
              </a:rPr>
              <a:t>Glyphicons</a:t>
            </a:r>
            <a:r>
              <a:rPr lang="en-IN" b="0" i="0" dirty="0">
                <a:solidFill>
                  <a:srgbClr val="273239"/>
                </a:solidFill>
                <a:effectLst/>
                <a:latin typeface="urw-din"/>
              </a:rPr>
              <a:t> are icon fonts which you can use in your web projects.  Bootstrap includes 260 </a:t>
            </a:r>
            <a:r>
              <a:rPr lang="en-IN" b="0" i="0" dirty="0" err="1">
                <a:solidFill>
                  <a:srgbClr val="273239"/>
                </a:solidFill>
                <a:effectLst/>
                <a:latin typeface="urw-din"/>
              </a:rPr>
              <a:t>glyphicons</a:t>
            </a:r>
            <a:r>
              <a:rPr lang="en-IN" b="1" i="0" dirty="0">
                <a:solidFill>
                  <a:srgbClr val="273239"/>
                </a:solidFill>
                <a:effectLst/>
                <a:latin typeface="urw-din"/>
              </a:rPr>
              <a:t>.</a:t>
            </a:r>
            <a:r>
              <a:rPr lang="en-IN" b="0" i="0" dirty="0">
                <a:solidFill>
                  <a:srgbClr val="273239"/>
                </a:solidFill>
                <a:effectLst/>
                <a:latin typeface="urw-din"/>
              </a:rPr>
              <a:t> </a:t>
            </a:r>
            <a:r>
              <a:rPr lang="en-IN" b="0" i="0" dirty="0" err="1">
                <a:solidFill>
                  <a:srgbClr val="273239"/>
                </a:solidFill>
                <a:effectLst/>
                <a:latin typeface="urw-din"/>
              </a:rPr>
              <a:t>Glyphicons</a:t>
            </a:r>
            <a:r>
              <a:rPr lang="en-IN" b="0" i="0" dirty="0">
                <a:solidFill>
                  <a:srgbClr val="273239"/>
                </a:solidFill>
                <a:effectLst/>
                <a:latin typeface="urw-din"/>
              </a:rPr>
              <a:t> Halflings are not available for free of cost, but their creator has made them available for Bootstrap free of cost.</a:t>
            </a:r>
            <a:endParaRPr lang="en-IN" dirty="0"/>
          </a:p>
        </p:txBody>
      </p:sp>
    </p:spTree>
    <p:extLst>
      <p:ext uri="{BB962C8B-B14F-4D97-AF65-F5344CB8AC3E}">
        <p14:creationId xmlns:p14="http://schemas.microsoft.com/office/powerpoint/2010/main" val="420766375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55B3-BA78-0CB1-2219-D1EF0E338118}"/>
              </a:ext>
            </a:extLst>
          </p:cNvPr>
          <p:cNvSpPr>
            <a:spLocks noGrp="1"/>
          </p:cNvSpPr>
          <p:nvPr>
            <p:ph type="title"/>
          </p:nvPr>
        </p:nvSpPr>
        <p:spPr>
          <a:xfrm>
            <a:off x="722696" y="374750"/>
            <a:ext cx="10515600" cy="1325563"/>
          </a:xfrm>
        </p:spPr>
        <p:txBody>
          <a:bodyPr/>
          <a:lstStyle/>
          <a:p>
            <a:r>
              <a:rPr lang="en-IN" b="1" i="0" dirty="0">
                <a:solidFill>
                  <a:srgbClr val="273239"/>
                </a:solidFill>
                <a:effectLst/>
                <a:latin typeface="sofia-pro"/>
              </a:rPr>
              <a:t>Tables</a:t>
            </a:r>
            <a:br>
              <a:rPr lang="en-IN" b="1" i="0" dirty="0">
                <a:solidFill>
                  <a:srgbClr val="273239"/>
                </a:solidFill>
                <a:effectLst/>
                <a:latin typeface="sofia-pro"/>
              </a:rPr>
            </a:br>
            <a:endParaRPr lang="en-IN" dirty="0"/>
          </a:p>
        </p:txBody>
      </p:sp>
      <p:sp>
        <p:nvSpPr>
          <p:cNvPr id="3" name="Content Placeholder 2">
            <a:extLst>
              <a:ext uri="{FF2B5EF4-FFF2-40B4-BE49-F238E27FC236}">
                <a16:creationId xmlns:a16="http://schemas.microsoft.com/office/drawing/2014/main" id="{85B92CD1-B9F1-42AF-2E9D-940CC4FDB8FF}"/>
              </a:ext>
            </a:extLst>
          </p:cNvPr>
          <p:cNvSpPr>
            <a:spLocks noGrp="1"/>
          </p:cNvSpPr>
          <p:nvPr>
            <p:ph idx="1"/>
          </p:nvPr>
        </p:nvSpPr>
        <p:spPr/>
        <p:txBody>
          <a:bodyPr/>
          <a:lstStyle/>
          <a:p>
            <a:pPr algn="just" fontAlgn="base"/>
            <a:r>
              <a:rPr lang="en-US" b="1" i="0" dirty="0">
                <a:solidFill>
                  <a:srgbClr val="273239"/>
                </a:solidFill>
                <a:effectLst/>
                <a:latin typeface="urw-din"/>
              </a:rPr>
              <a:t>Bootstrap </a:t>
            </a:r>
            <a:r>
              <a:rPr lang="en-US" b="0" i="0" dirty="0">
                <a:solidFill>
                  <a:srgbClr val="273239"/>
                </a:solidFill>
                <a:effectLst/>
                <a:latin typeface="urw-din"/>
              </a:rPr>
              <a:t>provides a series of classes that can be used to apply various styling to the tables such as changing the heading appearance, making the rows stripped, adding or removing borders, making rows </a:t>
            </a:r>
            <a:r>
              <a:rPr lang="en-US" b="0" i="0" dirty="0" err="1">
                <a:solidFill>
                  <a:srgbClr val="273239"/>
                </a:solidFill>
                <a:effectLst/>
                <a:latin typeface="urw-din"/>
              </a:rPr>
              <a:t>hoverable</a:t>
            </a:r>
            <a:r>
              <a:rPr lang="en-US" b="0" i="0" dirty="0">
                <a:solidFill>
                  <a:srgbClr val="273239"/>
                </a:solidFill>
                <a:effectLst/>
                <a:latin typeface="urw-din"/>
              </a:rPr>
              <a:t>, etc. Bootstrap also provides classes for making tables responsive.</a:t>
            </a:r>
          </a:p>
          <a:p>
            <a:pPr algn="just" fontAlgn="base"/>
            <a:r>
              <a:rPr lang="en-US" b="1" i="0" dirty="0">
                <a:solidFill>
                  <a:srgbClr val="273239"/>
                </a:solidFill>
                <a:effectLst/>
                <a:latin typeface="urw-din"/>
              </a:rPr>
              <a:t>Simple Table:</a:t>
            </a:r>
            <a:r>
              <a:rPr lang="en-US" b="0" i="0" dirty="0">
                <a:solidFill>
                  <a:srgbClr val="273239"/>
                </a:solidFill>
                <a:effectLst/>
                <a:latin typeface="urw-din"/>
              </a:rPr>
              <a:t> The </a:t>
            </a:r>
            <a:r>
              <a:rPr lang="en-US" b="0" i="1" dirty="0">
                <a:solidFill>
                  <a:srgbClr val="273239"/>
                </a:solidFill>
                <a:effectLst/>
                <a:latin typeface="urw-din"/>
              </a:rPr>
              <a:t>.table</a:t>
            </a:r>
            <a:r>
              <a:rPr lang="en-US" b="0" i="0" dirty="0">
                <a:solidFill>
                  <a:srgbClr val="273239"/>
                </a:solidFill>
                <a:effectLst/>
                <a:latin typeface="urw-din"/>
              </a:rPr>
              <a:t> class is used to create a simple Bootstrap table. This class name is used with the &lt;table&gt; tag to create a table.</a:t>
            </a:r>
          </a:p>
          <a:p>
            <a:pPr algn="just" fontAlgn="base"/>
            <a:r>
              <a:rPr kumimoji="0" lang="en-US" altLang="en-US" sz="2800" b="0" i="0" u="none" strike="noStrike" cap="none" normalizeH="0" baseline="0" dirty="0">
                <a:ln>
                  <a:noFill/>
                </a:ln>
                <a:solidFill>
                  <a:srgbClr val="273239"/>
                </a:solidFill>
                <a:effectLst/>
                <a:latin typeface="Consolas" panose="020B0609020204030204" pitchFamily="49" charset="0"/>
              </a:rPr>
              <a:t>table class="table"&gt; Table Contents... &lt;table&gt;</a:t>
            </a:r>
            <a:endParaRPr lang="en-US" b="0" i="0" dirty="0">
              <a:solidFill>
                <a:srgbClr val="273239"/>
              </a:solidFill>
              <a:effectLst/>
              <a:latin typeface="urw-din"/>
            </a:endParaRPr>
          </a:p>
          <a:p>
            <a:endParaRPr lang="en-IN" dirty="0"/>
          </a:p>
        </p:txBody>
      </p:sp>
    </p:spTree>
    <p:extLst>
      <p:ext uri="{BB962C8B-B14F-4D97-AF65-F5344CB8AC3E}">
        <p14:creationId xmlns:p14="http://schemas.microsoft.com/office/powerpoint/2010/main" val="658978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Basics of table</a:t>
            </a:r>
            <a:endParaRPr lang="en-IN" dirty="0"/>
          </a:p>
        </p:txBody>
      </p:sp>
      <p:sp>
        <p:nvSpPr>
          <p:cNvPr id="3" name="Content Placeholder 2"/>
          <p:cNvSpPr>
            <a:spLocks noGrp="1"/>
          </p:cNvSpPr>
          <p:nvPr>
            <p:ph idx="1"/>
          </p:nvPr>
        </p:nvSpPr>
        <p:spPr/>
        <p:txBody>
          <a:bodyPr/>
          <a:lstStyle/>
          <a:p>
            <a:r>
              <a:rPr lang="en-US" b="1" dirty="0"/>
              <a:t>table</a:t>
            </a:r>
            <a:r>
              <a:rPr lang="en-US" dirty="0"/>
              <a:t>: This class is used to create a basic styled table.</a:t>
            </a:r>
          </a:p>
          <a:p>
            <a:r>
              <a:rPr lang="en-US" b="1" dirty="0" err="1"/>
              <a:t>thead</a:t>
            </a:r>
            <a:r>
              <a:rPr lang="en-US" dirty="0"/>
              <a:t>: Defines the header section of the table.</a:t>
            </a:r>
          </a:p>
          <a:p>
            <a:r>
              <a:rPr lang="en-US" b="1" dirty="0" err="1"/>
              <a:t>tbody</a:t>
            </a:r>
            <a:r>
              <a:rPr lang="en-US" dirty="0"/>
              <a:t>: Defines the body section of the table, where the actual data goes.</a:t>
            </a:r>
          </a:p>
          <a:p>
            <a:r>
              <a:rPr lang="en-US" b="1" dirty="0" err="1"/>
              <a:t>th</a:t>
            </a:r>
            <a:r>
              <a:rPr lang="en-US" dirty="0"/>
              <a:t>: Defines header cells, which are usually bold by default.</a:t>
            </a:r>
          </a:p>
          <a:p>
            <a:r>
              <a:rPr lang="en-US" b="1" dirty="0"/>
              <a:t>scope="col": </a:t>
            </a:r>
            <a:r>
              <a:rPr lang="en-US" dirty="0"/>
              <a:t>Defines the scope for a column header. Helps screen readers interpret the table structure</a:t>
            </a:r>
            <a:r>
              <a:rPr lang="en-US" dirty="0" smtClean="0"/>
              <a:t>.</a:t>
            </a:r>
          </a:p>
          <a:p>
            <a:r>
              <a:rPr lang="en-US" b="1" dirty="0"/>
              <a:t>table-</a:t>
            </a:r>
            <a:r>
              <a:rPr lang="en-US" b="1" dirty="0" err="1"/>
              <a:t>sm</a:t>
            </a:r>
            <a:r>
              <a:rPr lang="en-US" b="1" dirty="0"/>
              <a:t>: </a:t>
            </a:r>
            <a:r>
              <a:rPr lang="en-US" dirty="0"/>
              <a:t>This class makes the table more compact, reducing padding and making the table cells smaller.</a:t>
            </a:r>
            <a:endParaRPr lang="en-IN" dirty="0"/>
          </a:p>
        </p:txBody>
      </p:sp>
    </p:spTree>
    <p:extLst>
      <p:ext uri="{BB962C8B-B14F-4D97-AF65-F5344CB8AC3E}">
        <p14:creationId xmlns:p14="http://schemas.microsoft.com/office/powerpoint/2010/main" val="1370648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in bootstrap</a:t>
            </a:r>
            <a:endParaRPr lang="en-IN" dirty="0"/>
          </a:p>
        </p:txBody>
      </p:sp>
      <p:sp>
        <p:nvSpPr>
          <p:cNvPr id="3" name="Content Placeholder 2"/>
          <p:cNvSpPr>
            <a:spLocks noGrp="1"/>
          </p:cNvSpPr>
          <p:nvPr>
            <p:ph idx="1"/>
          </p:nvPr>
        </p:nvSpPr>
        <p:spPr/>
        <p:txBody>
          <a:bodyPr>
            <a:normAutofit fontScale="92500" lnSpcReduction="20000"/>
          </a:bodyPr>
          <a:lstStyle/>
          <a:p>
            <a:r>
              <a:rPr lang="en-US" b="1" dirty="0" smtClean="0"/>
              <a:t>Striped </a:t>
            </a:r>
            <a:r>
              <a:rPr lang="en-US" b="1" dirty="0"/>
              <a:t>Rows</a:t>
            </a:r>
          </a:p>
          <a:p>
            <a:r>
              <a:rPr lang="en-US" dirty="0"/>
              <a:t>Adding the table-striped class will alternate the background color of rows to make the table more visually readable.</a:t>
            </a:r>
            <a:endParaRPr lang="en-US" dirty="0" smtClean="0"/>
          </a:p>
          <a:p>
            <a:r>
              <a:rPr lang="en-US" b="1" dirty="0"/>
              <a:t>Bordered Table</a:t>
            </a:r>
          </a:p>
          <a:p>
            <a:r>
              <a:rPr lang="en-US" dirty="0"/>
              <a:t>You can add borders to the table using the table-bordered class.</a:t>
            </a:r>
            <a:endParaRPr lang="en-US" dirty="0" smtClean="0"/>
          </a:p>
          <a:p>
            <a:r>
              <a:rPr lang="en-US" b="1" dirty="0" err="1"/>
              <a:t>Hoverable</a:t>
            </a:r>
            <a:r>
              <a:rPr lang="en-US" b="1" dirty="0"/>
              <a:t> </a:t>
            </a:r>
            <a:r>
              <a:rPr lang="en-US" b="1" dirty="0" smtClean="0"/>
              <a:t>Rows :</a:t>
            </a:r>
            <a:endParaRPr lang="en-US" b="1" dirty="0"/>
          </a:p>
          <a:p>
            <a:r>
              <a:rPr lang="en-US" dirty="0"/>
              <a:t>To make rows highlight when you hover over them, use the table-hover </a:t>
            </a:r>
            <a:r>
              <a:rPr lang="en-US" dirty="0" smtClean="0"/>
              <a:t>class</a:t>
            </a:r>
          </a:p>
          <a:p>
            <a:r>
              <a:rPr lang="en-US" b="1" dirty="0" err="1" smtClean="0"/>
              <a:t>Coloured</a:t>
            </a:r>
            <a:r>
              <a:rPr lang="en-US" b="1" dirty="0" smtClean="0"/>
              <a:t> table :</a:t>
            </a:r>
          </a:p>
          <a:p>
            <a:r>
              <a:rPr lang="en-US" dirty="0"/>
              <a:t>Bootstrap provides a number of contextual classes that can be used to color the entire row or a single cell of a table.</a:t>
            </a:r>
            <a:endParaRPr lang="en-IN" dirty="0"/>
          </a:p>
        </p:txBody>
      </p:sp>
    </p:spTree>
    <p:extLst>
      <p:ext uri="{BB962C8B-B14F-4D97-AF65-F5344CB8AC3E}">
        <p14:creationId xmlns:p14="http://schemas.microsoft.com/office/powerpoint/2010/main" val="5490221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1157288"/>
            <a:ext cx="10515600" cy="5019675"/>
          </a:xfrm>
        </p:spPr>
        <p:txBody>
          <a:bodyPr/>
          <a:lstStyle/>
          <a:p>
            <a:r>
              <a:rPr lang="en-US" dirty="0" smtClean="0"/>
              <a:t>Create a web page to show stripped, hover able, colored and bordered table</a:t>
            </a:r>
            <a:endParaRPr lang="en-IN" dirty="0"/>
          </a:p>
        </p:txBody>
      </p:sp>
    </p:spTree>
    <p:extLst>
      <p:ext uri="{BB962C8B-B14F-4D97-AF65-F5344CB8AC3E}">
        <p14:creationId xmlns:p14="http://schemas.microsoft.com/office/powerpoint/2010/main" val="382724550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38D5-97BE-BC2B-B5A1-ED2F08144942}"/>
              </a:ext>
            </a:extLst>
          </p:cNvPr>
          <p:cNvSpPr>
            <a:spLocks noGrp="1"/>
          </p:cNvSpPr>
          <p:nvPr>
            <p:ph type="title"/>
          </p:nvPr>
        </p:nvSpPr>
        <p:spPr/>
        <p:txBody>
          <a:bodyPr/>
          <a:lstStyle/>
          <a:p>
            <a:r>
              <a:rPr lang="en-IN" b="1" i="0" dirty="0">
                <a:solidFill>
                  <a:srgbClr val="273239"/>
                </a:solidFill>
                <a:effectLst/>
                <a:latin typeface="sofia-pro"/>
              </a:rPr>
              <a:t>Images</a:t>
            </a:r>
            <a:br>
              <a:rPr lang="en-IN" b="1" i="0" dirty="0">
                <a:solidFill>
                  <a:srgbClr val="273239"/>
                </a:solidFill>
                <a:effectLst/>
                <a:latin typeface="sofia-pro"/>
              </a:rPr>
            </a:br>
            <a:endParaRPr lang="en-IN" dirty="0"/>
          </a:p>
        </p:txBody>
      </p:sp>
      <p:sp>
        <p:nvSpPr>
          <p:cNvPr id="3" name="Content Placeholder 2">
            <a:extLst>
              <a:ext uri="{FF2B5EF4-FFF2-40B4-BE49-F238E27FC236}">
                <a16:creationId xmlns:a16="http://schemas.microsoft.com/office/drawing/2014/main" id="{700F7F3B-0B89-6BBE-62A5-AABC1469C0BA}"/>
              </a:ext>
            </a:extLst>
          </p:cNvPr>
          <p:cNvSpPr>
            <a:spLocks noGrp="1"/>
          </p:cNvSpPr>
          <p:nvPr>
            <p:ph idx="1"/>
          </p:nvPr>
        </p:nvSpPr>
        <p:spPr/>
        <p:txBody>
          <a:bodyPr>
            <a:normAutofit/>
          </a:bodyPr>
          <a:lstStyle/>
          <a:p>
            <a:pPr algn="just" fontAlgn="base"/>
            <a:r>
              <a:rPr lang="en-US" b="1" i="0" dirty="0">
                <a:solidFill>
                  <a:srgbClr val="273239"/>
                </a:solidFill>
                <a:effectLst/>
                <a:latin typeface="urw-din"/>
              </a:rPr>
              <a:t>Bootstrap </a:t>
            </a:r>
            <a:r>
              <a:rPr lang="en-US" b="0" i="0" dirty="0">
                <a:solidFill>
                  <a:srgbClr val="273239"/>
                </a:solidFill>
                <a:effectLst/>
                <a:latin typeface="urw-din"/>
              </a:rPr>
              <a:t>offers different classes for images to make their appearance better and also to make them responsive. Making an image responsive means it should scale according to its parent element. That is, the size of the image should not overflow its parent element and will grow and shrink according to the change in the size of its parent without losing its aspect ratio</a:t>
            </a:r>
            <a:r>
              <a:rPr lang="en-US" b="0" i="0" dirty="0" smtClean="0">
                <a:solidFill>
                  <a:srgbClr val="273239"/>
                </a:solidFill>
                <a:effectLst/>
                <a:latin typeface="urw-din"/>
              </a:rPr>
              <a:t>.</a:t>
            </a:r>
          </a:p>
          <a:p>
            <a:pPr algn="just" fontAlgn="base"/>
            <a:endParaRPr lang="en-US" b="0" i="0" dirty="0">
              <a:solidFill>
                <a:srgbClr val="273239"/>
              </a:solidFill>
              <a:effectLst/>
              <a:latin typeface="urw-din"/>
            </a:endParaRPr>
          </a:p>
          <a:p>
            <a:pPr marL="0" indent="0">
              <a:buNone/>
            </a:pP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37236588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8A7D21-5CB4-CB07-7841-CF9361C54FBB}"/>
              </a:ext>
            </a:extLst>
          </p:cNvPr>
          <p:cNvSpPr>
            <a:spLocks noGrp="1"/>
          </p:cNvSpPr>
          <p:nvPr>
            <p:ph idx="1"/>
          </p:nvPr>
        </p:nvSpPr>
        <p:spPr>
          <a:xfrm>
            <a:off x="838200" y="628650"/>
            <a:ext cx="10515600" cy="5548313"/>
          </a:xfrm>
        </p:spPr>
        <p:txBody>
          <a:bodyPr>
            <a:normAutofit fontScale="70000" lnSpcReduction="20000"/>
          </a:bodyPr>
          <a:lstStyle/>
          <a:p>
            <a:pPr algn="just" fontAlgn="base"/>
            <a:r>
              <a:rPr lang="en-US" dirty="0">
                <a:solidFill>
                  <a:srgbClr val="273239"/>
                </a:solidFill>
                <a:latin typeface="urw-din"/>
              </a:rPr>
              <a:t>The different classes available in Bootstrap for images are as explained below:</a:t>
            </a:r>
          </a:p>
          <a:p>
            <a:pPr marL="0" indent="0" algn="just" fontAlgn="base">
              <a:buNone/>
            </a:pPr>
            <a:r>
              <a:rPr lang="en-US" b="1" dirty="0">
                <a:solidFill>
                  <a:srgbClr val="273239"/>
                </a:solidFill>
                <a:latin typeface="urw-din"/>
              </a:rPr>
              <a:t>1. Responsive Images:</a:t>
            </a:r>
            <a:r>
              <a:rPr lang="en-US" dirty="0">
                <a:solidFill>
                  <a:srgbClr val="273239"/>
                </a:solidFill>
                <a:latin typeface="urw-din"/>
              </a:rPr>
              <a:t> The </a:t>
            </a:r>
            <a:r>
              <a:rPr lang="en-US" i="1" dirty="0">
                <a:solidFill>
                  <a:srgbClr val="273239"/>
                </a:solidFill>
                <a:latin typeface="urw-din"/>
              </a:rPr>
              <a:t>.</a:t>
            </a:r>
            <a:r>
              <a:rPr lang="en-US" i="1" dirty="0" err="1">
                <a:solidFill>
                  <a:srgbClr val="273239"/>
                </a:solidFill>
                <a:latin typeface="urw-din"/>
              </a:rPr>
              <a:t>img</a:t>
            </a:r>
            <a:r>
              <a:rPr lang="en-US" i="1" dirty="0">
                <a:solidFill>
                  <a:srgbClr val="273239"/>
                </a:solidFill>
                <a:latin typeface="urw-din"/>
              </a:rPr>
              <a:t>-fluid</a:t>
            </a:r>
            <a:r>
              <a:rPr lang="en-US" dirty="0">
                <a:solidFill>
                  <a:srgbClr val="273239"/>
                </a:solidFill>
                <a:latin typeface="urw-din"/>
              </a:rPr>
              <a:t> class is used within the &lt;</a:t>
            </a:r>
            <a:r>
              <a:rPr lang="en-US" dirty="0" err="1">
                <a:solidFill>
                  <a:srgbClr val="273239"/>
                </a:solidFill>
                <a:latin typeface="urw-din"/>
              </a:rPr>
              <a:t>img</a:t>
            </a:r>
            <a:r>
              <a:rPr lang="en-US" dirty="0">
                <a:solidFill>
                  <a:srgbClr val="273239"/>
                </a:solidFill>
                <a:latin typeface="urw-din"/>
              </a:rPr>
              <a:t>&gt; tag to create the responsive image. The responsive image is used to adjust the image automatically to the specified box. </a:t>
            </a:r>
          </a:p>
          <a:p>
            <a:pPr marL="0" indent="0">
              <a:buNone/>
            </a:pPr>
            <a:r>
              <a:rPr lang="en-US" dirty="0"/>
              <a:t/>
            </a:r>
            <a:br>
              <a:rPr lang="en-US" dirty="0"/>
            </a:br>
            <a:r>
              <a:rPr lang="en-US" altLang="en-US" dirty="0">
                <a:solidFill>
                  <a:srgbClr val="273239"/>
                </a:solidFill>
                <a:latin typeface="Consolas" panose="020B0609020204030204" pitchFamily="49" charset="0"/>
              </a:rPr>
              <a:t>&lt;</a:t>
            </a:r>
            <a:r>
              <a:rPr lang="en-US" altLang="en-US" dirty="0" err="1">
                <a:solidFill>
                  <a:srgbClr val="273239"/>
                </a:solidFill>
                <a:latin typeface="Consolas" panose="020B0609020204030204" pitchFamily="49" charset="0"/>
              </a:rPr>
              <a:t>img</a:t>
            </a:r>
            <a:r>
              <a:rPr lang="en-US" altLang="en-US" dirty="0">
                <a:solidFill>
                  <a:srgbClr val="273239"/>
                </a:solidFill>
                <a:latin typeface="Consolas" panose="020B0609020204030204" pitchFamily="49" charset="0"/>
              </a:rPr>
              <a:t> </a:t>
            </a:r>
            <a:r>
              <a:rPr lang="en-US" altLang="en-US" dirty="0" err="1">
                <a:solidFill>
                  <a:srgbClr val="273239"/>
                </a:solidFill>
                <a:latin typeface="Consolas" panose="020B0609020204030204" pitchFamily="49" charset="0"/>
              </a:rPr>
              <a:t>src</a:t>
            </a:r>
            <a:r>
              <a:rPr lang="en-US" altLang="en-US" dirty="0">
                <a:solidFill>
                  <a:srgbClr val="273239"/>
                </a:solidFill>
                <a:latin typeface="Consolas" panose="020B0609020204030204" pitchFamily="49" charset="0"/>
              </a:rPr>
              <a:t>="</a:t>
            </a:r>
            <a:r>
              <a:rPr lang="en-US" altLang="en-US" dirty="0" err="1">
                <a:solidFill>
                  <a:srgbClr val="273239"/>
                </a:solidFill>
                <a:latin typeface="Consolas" panose="020B0609020204030204" pitchFamily="49" charset="0"/>
              </a:rPr>
              <a:t>image_source</a:t>
            </a:r>
            <a:r>
              <a:rPr lang="en-US" altLang="en-US" dirty="0">
                <a:solidFill>
                  <a:srgbClr val="273239"/>
                </a:solidFill>
                <a:latin typeface="Consolas" panose="020B0609020204030204" pitchFamily="49" charset="0"/>
              </a:rPr>
              <a:t>" class="</a:t>
            </a:r>
            <a:r>
              <a:rPr lang="en-US" altLang="en-US" b="1" dirty="0" err="1">
                <a:solidFill>
                  <a:srgbClr val="FF0000"/>
                </a:solidFill>
                <a:latin typeface="Consolas" panose="020B0609020204030204" pitchFamily="49" charset="0"/>
              </a:rPr>
              <a:t>img</a:t>
            </a:r>
            <a:r>
              <a:rPr lang="en-US" altLang="en-US" b="1" dirty="0">
                <a:solidFill>
                  <a:srgbClr val="FF0000"/>
                </a:solidFill>
                <a:latin typeface="Consolas" panose="020B0609020204030204" pitchFamily="49" charset="0"/>
              </a:rPr>
              <a:t>-fluid</a:t>
            </a:r>
            <a:r>
              <a:rPr lang="en-US" altLang="en-US" dirty="0">
                <a:solidFill>
                  <a:srgbClr val="273239"/>
                </a:solidFill>
                <a:latin typeface="Consolas" panose="020B0609020204030204" pitchFamily="49" charset="0"/>
              </a:rPr>
              <a:t>" ...&gt;</a:t>
            </a:r>
            <a:r>
              <a:rPr lang="en-US" altLang="en-US" sz="1400" dirty="0"/>
              <a:t> </a:t>
            </a:r>
          </a:p>
          <a:p>
            <a:pPr marL="0" indent="0">
              <a:buNone/>
            </a:pPr>
            <a:endParaRPr lang="en-US" b="1" i="0" dirty="0" smtClean="0">
              <a:solidFill>
                <a:srgbClr val="273239"/>
              </a:solidFill>
              <a:effectLst/>
              <a:latin typeface="urw-din"/>
            </a:endParaRPr>
          </a:p>
          <a:p>
            <a:pPr marL="0" indent="0">
              <a:buNone/>
            </a:pPr>
            <a:r>
              <a:rPr lang="en-US" b="1" i="0" dirty="0" smtClean="0">
                <a:solidFill>
                  <a:srgbClr val="273239"/>
                </a:solidFill>
                <a:effectLst/>
                <a:latin typeface="urw-din"/>
              </a:rPr>
              <a:t>2</a:t>
            </a:r>
            <a:r>
              <a:rPr lang="en-US" b="1" i="0" dirty="0">
                <a:solidFill>
                  <a:srgbClr val="273239"/>
                </a:solidFill>
                <a:effectLst/>
                <a:latin typeface="urw-din"/>
              </a:rPr>
              <a:t>. Rounded Corners Image:</a:t>
            </a:r>
            <a:r>
              <a:rPr lang="en-US" b="0" i="0" dirty="0">
                <a:solidFill>
                  <a:srgbClr val="273239"/>
                </a:solidFill>
                <a:effectLst/>
                <a:latin typeface="urw-din"/>
              </a:rPr>
              <a:t> The </a:t>
            </a:r>
            <a:r>
              <a:rPr lang="en-US" b="0" i="1" dirty="0">
                <a:solidFill>
                  <a:srgbClr val="273239"/>
                </a:solidFill>
                <a:effectLst/>
                <a:latin typeface="urw-din"/>
              </a:rPr>
              <a:t>.rounded</a:t>
            </a:r>
            <a:r>
              <a:rPr lang="en-US" b="0" i="0" dirty="0">
                <a:solidFill>
                  <a:srgbClr val="273239"/>
                </a:solidFill>
                <a:effectLst/>
                <a:latin typeface="urw-din"/>
              </a:rPr>
              <a:t> class is used to create a rounded corner image. This class is used with &lt;</a:t>
            </a:r>
            <a:r>
              <a:rPr lang="en-US" b="0" i="0" dirty="0" err="1">
                <a:solidFill>
                  <a:srgbClr val="273239"/>
                </a:solidFill>
                <a:effectLst/>
                <a:latin typeface="urw-din"/>
              </a:rPr>
              <a:t>img</a:t>
            </a:r>
            <a:r>
              <a:rPr lang="en-US" b="0" i="0" dirty="0">
                <a:solidFill>
                  <a:srgbClr val="273239"/>
                </a:solidFill>
                <a:effectLst/>
                <a:latin typeface="urw-din"/>
              </a:rPr>
              <a:t>&gt; tag.</a:t>
            </a:r>
          </a:p>
          <a:p>
            <a:r>
              <a:rPr kumimoji="0" lang="en-US" altLang="en-US" sz="2800" b="0" i="0" u="none" strike="noStrike" cap="none" normalizeH="0" baseline="0" dirty="0" err="1">
                <a:ln>
                  <a:noFill/>
                </a:ln>
                <a:solidFill>
                  <a:srgbClr val="273239"/>
                </a:solidFill>
                <a:effectLst/>
                <a:latin typeface="Consolas" panose="020B0609020204030204" pitchFamily="49" charset="0"/>
              </a:rPr>
              <a:t>img</a:t>
            </a:r>
            <a:r>
              <a:rPr kumimoji="0" lang="en-US" altLang="en-US" sz="2800" b="0" i="0" u="none" strike="noStrike" cap="none" normalizeH="0" baseline="0" dirty="0">
                <a:ln>
                  <a:noFill/>
                </a:ln>
                <a:solidFill>
                  <a:srgbClr val="273239"/>
                </a:solidFill>
                <a:effectLst/>
                <a:latin typeface="Consolas" panose="020B0609020204030204" pitchFamily="49" charset="0"/>
              </a:rPr>
              <a:t> </a:t>
            </a:r>
            <a:r>
              <a:rPr kumimoji="0" lang="en-US" altLang="en-US" sz="2800" b="0" i="0" u="none" strike="noStrike" cap="none" normalizeH="0" baseline="0" dirty="0" err="1">
                <a:ln>
                  <a:noFill/>
                </a:ln>
                <a:solidFill>
                  <a:srgbClr val="273239"/>
                </a:solidFill>
                <a:effectLst/>
                <a:latin typeface="Consolas" panose="020B0609020204030204" pitchFamily="49" charset="0"/>
              </a:rPr>
              <a:t>src</a:t>
            </a:r>
            <a:r>
              <a:rPr kumimoji="0" lang="en-US" altLang="en-US" sz="2800" b="0" i="0" u="none" strike="noStrike" cap="none" normalizeH="0" baseline="0" dirty="0">
                <a:ln>
                  <a:noFill/>
                </a:ln>
                <a:solidFill>
                  <a:srgbClr val="273239"/>
                </a:solidFill>
                <a:effectLst/>
                <a:latin typeface="Consolas" panose="020B0609020204030204" pitchFamily="49" charset="0"/>
              </a:rPr>
              <a:t>="</a:t>
            </a:r>
            <a:r>
              <a:rPr kumimoji="0" lang="en-US" altLang="en-US" sz="2800" b="0" i="0" u="none" strike="noStrike" cap="none" normalizeH="0" baseline="0" dirty="0" err="1">
                <a:ln>
                  <a:noFill/>
                </a:ln>
                <a:solidFill>
                  <a:srgbClr val="273239"/>
                </a:solidFill>
                <a:effectLst/>
                <a:latin typeface="Consolas" panose="020B0609020204030204" pitchFamily="49" charset="0"/>
              </a:rPr>
              <a:t>image_source</a:t>
            </a:r>
            <a:r>
              <a:rPr kumimoji="0" lang="en-US" altLang="en-US" sz="2800" b="0" i="0" u="none" strike="noStrike" cap="none" normalizeH="0" baseline="0" dirty="0">
                <a:ln>
                  <a:noFill/>
                </a:ln>
                <a:solidFill>
                  <a:srgbClr val="273239"/>
                </a:solidFill>
                <a:effectLst/>
                <a:latin typeface="Consolas" panose="020B0609020204030204" pitchFamily="49" charset="0"/>
              </a:rPr>
              <a:t>" class="</a:t>
            </a:r>
            <a:r>
              <a:rPr kumimoji="0" lang="en-US" altLang="en-US" sz="2800" b="1" i="0" u="none" strike="noStrike" cap="none" normalizeH="0" baseline="0" dirty="0">
                <a:ln>
                  <a:noFill/>
                </a:ln>
                <a:solidFill>
                  <a:srgbClr val="FF0000"/>
                </a:solidFill>
                <a:effectLst/>
                <a:latin typeface="Consolas" panose="020B0609020204030204" pitchFamily="49" charset="0"/>
              </a:rPr>
              <a:t>rounded</a:t>
            </a:r>
            <a:r>
              <a:rPr kumimoji="0" lang="en-US" altLang="en-US" sz="2800" b="0" i="0" u="none" strike="noStrike" cap="none" normalizeH="0" baseline="0" dirty="0">
                <a:ln>
                  <a:noFill/>
                </a:ln>
                <a:solidFill>
                  <a:srgbClr val="273239"/>
                </a:solidFill>
                <a:effectLst/>
                <a:latin typeface="Consolas" panose="020B0609020204030204" pitchFamily="49" charset="0"/>
              </a:rPr>
              <a:t>“</a:t>
            </a:r>
          </a:p>
          <a:p>
            <a:endParaRPr lang="en-US" dirty="0">
              <a:solidFill>
                <a:srgbClr val="273239"/>
              </a:solidFill>
              <a:latin typeface="Consolas" panose="020B0609020204030204" pitchFamily="49" charset="0"/>
            </a:endParaRPr>
          </a:p>
          <a:p>
            <a:pPr marL="0" indent="0">
              <a:buNone/>
            </a:pPr>
            <a:r>
              <a:rPr lang="en-US" b="0" i="0" dirty="0">
                <a:solidFill>
                  <a:srgbClr val="273239"/>
                </a:solidFill>
                <a:effectLst/>
                <a:latin typeface="Consolas" panose="020B0609020204030204" pitchFamily="49" charset="0"/>
              </a:rPr>
              <a:t>3. </a:t>
            </a:r>
            <a:r>
              <a:rPr lang="en-US" b="1" i="0" dirty="0">
                <a:solidFill>
                  <a:srgbClr val="273239"/>
                </a:solidFill>
                <a:effectLst/>
                <a:latin typeface="urw-din"/>
              </a:rPr>
              <a:t>Circle Image:</a:t>
            </a:r>
            <a:r>
              <a:rPr lang="en-US" b="0" i="0" dirty="0">
                <a:solidFill>
                  <a:srgbClr val="273239"/>
                </a:solidFill>
                <a:effectLst/>
                <a:latin typeface="urw-din"/>
              </a:rPr>
              <a:t> The </a:t>
            </a:r>
            <a:r>
              <a:rPr lang="en-US" b="0" i="1" dirty="0">
                <a:solidFill>
                  <a:srgbClr val="273239"/>
                </a:solidFill>
                <a:effectLst/>
                <a:latin typeface="urw-din"/>
              </a:rPr>
              <a:t>.rounded-circle</a:t>
            </a:r>
            <a:r>
              <a:rPr lang="en-US" b="0" i="0" dirty="0">
                <a:solidFill>
                  <a:srgbClr val="273239"/>
                </a:solidFill>
                <a:effectLst/>
                <a:latin typeface="urw-din"/>
              </a:rPr>
              <a:t> class is used to create the circle shape image</a:t>
            </a:r>
            <a:endParaRPr lang="en-US" b="0" i="0" dirty="0">
              <a:solidFill>
                <a:srgbClr val="273239"/>
              </a:solidFill>
              <a:effectLst/>
              <a:latin typeface="Consolas" panose="020B0609020204030204" pitchFamily="49" charset="0"/>
            </a:endParaRPr>
          </a:p>
          <a:p>
            <a:r>
              <a:rPr kumimoji="0" lang="en-US" altLang="en-US" sz="2800" b="0" i="0" u="none" strike="noStrike" cap="none" normalizeH="0" baseline="0" dirty="0" err="1">
                <a:ln>
                  <a:noFill/>
                </a:ln>
                <a:solidFill>
                  <a:srgbClr val="273239"/>
                </a:solidFill>
                <a:effectLst/>
                <a:latin typeface="Consolas" panose="020B0609020204030204" pitchFamily="49" charset="0"/>
              </a:rPr>
              <a:t>img</a:t>
            </a:r>
            <a:r>
              <a:rPr kumimoji="0" lang="en-US" altLang="en-US" sz="2800" b="0" i="0" u="none" strike="noStrike" cap="none" normalizeH="0" baseline="0" dirty="0">
                <a:ln>
                  <a:noFill/>
                </a:ln>
                <a:solidFill>
                  <a:srgbClr val="273239"/>
                </a:solidFill>
                <a:effectLst/>
                <a:latin typeface="Consolas" panose="020B0609020204030204" pitchFamily="49" charset="0"/>
              </a:rPr>
              <a:t> </a:t>
            </a:r>
            <a:r>
              <a:rPr kumimoji="0" lang="en-US" altLang="en-US" sz="2800" b="0" i="0" u="none" strike="noStrike" cap="none" normalizeH="0" baseline="0" dirty="0" err="1">
                <a:ln>
                  <a:noFill/>
                </a:ln>
                <a:solidFill>
                  <a:srgbClr val="273239"/>
                </a:solidFill>
                <a:effectLst/>
                <a:latin typeface="Consolas" panose="020B0609020204030204" pitchFamily="49" charset="0"/>
              </a:rPr>
              <a:t>src</a:t>
            </a:r>
            <a:r>
              <a:rPr kumimoji="0" lang="en-US" altLang="en-US" sz="2800" b="0" i="0" u="none" strike="noStrike" cap="none" normalizeH="0" baseline="0" dirty="0">
                <a:ln>
                  <a:noFill/>
                </a:ln>
                <a:solidFill>
                  <a:srgbClr val="273239"/>
                </a:solidFill>
                <a:effectLst/>
                <a:latin typeface="Consolas" panose="020B0609020204030204" pitchFamily="49" charset="0"/>
              </a:rPr>
              <a:t>="</a:t>
            </a:r>
            <a:r>
              <a:rPr kumimoji="0" lang="en-US" altLang="en-US" sz="2800" b="0" i="0" u="none" strike="noStrike" cap="none" normalizeH="0" baseline="0" dirty="0" err="1">
                <a:ln>
                  <a:noFill/>
                </a:ln>
                <a:solidFill>
                  <a:srgbClr val="273239"/>
                </a:solidFill>
                <a:effectLst/>
                <a:latin typeface="Consolas" panose="020B0609020204030204" pitchFamily="49" charset="0"/>
              </a:rPr>
              <a:t>image_source</a:t>
            </a:r>
            <a:r>
              <a:rPr kumimoji="0" lang="en-US" altLang="en-US" sz="2800" b="0" i="0" u="none" strike="noStrike" cap="none" normalizeH="0" baseline="0" dirty="0">
                <a:ln>
                  <a:noFill/>
                </a:ln>
                <a:solidFill>
                  <a:srgbClr val="273239"/>
                </a:solidFill>
                <a:effectLst/>
                <a:latin typeface="Consolas" panose="020B0609020204030204" pitchFamily="49" charset="0"/>
              </a:rPr>
              <a:t>" class="</a:t>
            </a:r>
            <a:r>
              <a:rPr kumimoji="0" lang="en-US" altLang="en-US" sz="2800" b="1" i="0" u="none" strike="noStrike" cap="none" normalizeH="0" baseline="0" dirty="0">
                <a:ln>
                  <a:noFill/>
                </a:ln>
                <a:solidFill>
                  <a:srgbClr val="FF0000"/>
                </a:solidFill>
                <a:effectLst/>
                <a:latin typeface="Consolas" panose="020B0609020204030204" pitchFamily="49" charset="0"/>
              </a:rPr>
              <a:t>rounded-circle</a:t>
            </a:r>
            <a:r>
              <a:rPr kumimoji="0" lang="en-US" altLang="en-US" sz="2800" b="0" i="0" u="none" strike="noStrike" cap="none" normalizeH="0" baseline="0" dirty="0">
                <a:ln>
                  <a:noFill/>
                </a:ln>
                <a:solidFill>
                  <a:srgbClr val="273239"/>
                </a:solidFill>
                <a:effectLst/>
                <a:latin typeface="Consolas" panose="020B0609020204030204" pitchFamily="49" charset="0"/>
              </a:rPr>
              <a:t>“</a:t>
            </a:r>
          </a:p>
          <a:p>
            <a:pPr marL="0" indent="0">
              <a:buNone/>
            </a:pPr>
            <a:endParaRPr kumimoji="0" lang="en-US" altLang="en-US" sz="2800" b="0" i="0" u="none" strike="noStrike" cap="none" normalizeH="0" baseline="0" dirty="0">
              <a:ln>
                <a:noFill/>
              </a:ln>
              <a:solidFill>
                <a:srgbClr val="273239"/>
              </a:solidFill>
              <a:effectLst/>
              <a:latin typeface="Consolas" panose="020B0609020204030204" pitchFamily="49" charset="0"/>
            </a:endParaRPr>
          </a:p>
          <a:p>
            <a:pPr marL="0" indent="0">
              <a:buNone/>
            </a:pPr>
            <a:r>
              <a:rPr lang="en-US" dirty="0">
                <a:solidFill>
                  <a:srgbClr val="273239"/>
                </a:solidFill>
                <a:latin typeface="Consolas" panose="020B0609020204030204" pitchFamily="49" charset="0"/>
              </a:rPr>
              <a:t>4. </a:t>
            </a:r>
            <a:r>
              <a:rPr lang="en-US" b="1" i="0" dirty="0">
                <a:solidFill>
                  <a:srgbClr val="273239"/>
                </a:solidFill>
                <a:effectLst/>
                <a:latin typeface="urw-din"/>
              </a:rPr>
              <a:t>Thumbnail Image:</a:t>
            </a:r>
            <a:r>
              <a:rPr lang="en-US" b="0" i="0" dirty="0">
                <a:solidFill>
                  <a:srgbClr val="273239"/>
                </a:solidFill>
                <a:effectLst/>
                <a:latin typeface="urw-din"/>
              </a:rPr>
              <a:t> The </a:t>
            </a:r>
            <a:r>
              <a:rPr lang="en-US" b="0" i="1" dirty="0">
                <a:solidFill>
                  <a:srgbClr val="273239"/>
                </a:solidFill>
                <a:effectLst/>
                <a:latin typeface="urw-din"/>
              </a:rPr>
              <a:t>.</a:t>
            </a:r>
            <a:r>
              <a:rPr lang="en-US" b="0" i="1" dirty="0" err="1">
                <a:solidFill>
                  <a:srgbClr val="273239"/>
                </a:solidFill>
                <a:effectLst/>
                <a:latin typeface="urw-din"/>
              </a:rPr>
              <a:t>img</a:t>
            </a:r>
            <a:r>
              <a:rPr lang="en-US" b="0" i="1" dirty="0">
                <a:solidFill>
                  <a:srgbClr val="273239"/>
                </a:solidFill>
                <a:effectLst/>
                <a:latin typeface="urw-din"/>
              </a:rPr>
              <a:t>-thumbnail</a:t>
            </a:r>
            <a:r>
              <a:rPr lang="en-US" b="0" i="0" dirty="0">
                <a:solidFill>
                  <a:srgbClr val="273239"/>
                </a:solidFill>
                <a:effectLst/>
                <a:latin typeface="urw-din"/>
              </a:rPr>
              <a:t> class is used to create a thumbnail (bordered) image. </a:t>
            </a:r>
            <a:endParaRPr lang="en-US" dirty="0">
              <a:solidFill>
                <a:srgbClr val="273239"/>
              </a:solidFill>
              <a:latin typeface="Consolas" panose="020B0609020204030204" pitchFamily="49" charset="0"/>
            </a:endParaRPr>
          </a:p>
          <a:p>
            <a:r>
              <a:rPr kumimoji="0" lang="en-US" altLang="en-US" sz="2800" b="0" i="0" u="none" strike="noStrike" cap="none" normalizeH="0" baseline="0" dirty="0">
                <a:ln>
                  <a:noFill/>
                </a:ln>
                <a:solidFill>
                  <a:srgbClr val="273239"/>
                </a:solidFill>
                <a:effectLst/>
                <a:latin typeface="Consolas" panose="020B0609020204030204" pitchFamily="49" charset="0"/>
              </a:rPr>
              <a:t>&lt;</a:t>
            </a:r>
            <a:r>
              <a:rPr kumimoji="0" lang="en-US" altLang="en-US" sz="2800" b="0" i="0" u="none" strike="noStrike" cap="none" normalizeH="0" baseline="0" dirty="0" err="1">
                <a:ln>
                  <a:noFill/>
                </a:ln>
                <a:solidFill>
                  <a:srgbClr val="273239"/>
                </a:solidFill>
                <a:effectLst/>
                <a:latin typeface="Consolas" panose="020B0609020204030204" pitchFamily="49" charset="0"/>
              </a:rPr>
              <a:t>img</a:t>
            </a:r>
            <a:r>
              <a:rPr kumimoji="0" lang="en-US" altLang="en-US" sz="2800" b="0" i="0" u="none" strike="noStrike" cap="none" normalizeH="0" baseline="0" dirty="0">
                <a:ln>
                  <a:noFill/>
                </a:ln>
                <a:solidFill>
                  <a:srgbClr val="273239"/>
                </a:solidFill>
                <a:effectLst/>
                <a:latin typeface="Consolas" panose="020B0609020204030204" pitchFamily="49" charset="0"/>
              </a:rPr>
              <a:t> </a:t>
            </a:r>
            <a:r>
              <a:rPr kumimoji="0" lang="en-US" altLang="en-US" sz="2800" b="0" i="0" u="none" strike="noStrike" cap="none" normalizeH="0" baseline="0" dirty="0" err="1">
                <a:ln>
                  <a:noFill/>
                </a:ln>
                <a:solidFill>
                  <a:srgbClr val="273239"/>
                </a:solidFill>
                <a:effectLst/>
                <a:latin typeface="Consolas" panose="020B0609020204030204" pitchFamily="49" charset="0"/>
              </a:rPr>
              <a:t>src</a:t>
            </a:r>
            <a:r>
              <a:rPr kumimoji="0" lang="en-US" altLang="en-US" sz="2800" b="0" i="0" u="none" strike="noStrike" cap="none" normalizeH="0" baseline="0" dirty="0">
                <a:ln>
                  <a:noFill/>
                </a:ln>
                <a:solidFill>
                  <a:srgbClr val="273239"/>
                </a:solidFill>
                <a:effectLst/>
                <a:latin typeface="Consolas" panose="020B0609020204030204" pitchFamily="49" charset="0"/>
              </a:rPr>
              <a:t>="</a:t>
            </a:r>
            <a:r>
              <a:rPr kumimoji="0" lang="en-US" altLang="en-US" sz="2800" b="0" i="0" u="none" strike="noStrike" cap="none" normalizeH="0" baseline="0" dirty="0" err="1">
                <a:ln>
                  <a:noFill/>
                </a:ln>
                <a:solidFill>
                  <a:srgbClr val="273239"/>
                </a:solidFill>
                <a:effectLst/>
                <a:latin typeface="Consolas" panose="020B0609020204030204" pitchFamily="49" charset="0"/>
              </a:rPr>
              <a:t>image_source</a:t>
            </a:r>
            <a:r>
              <a:rPr kumimoji="0" lang="en-US" altLang="en-US" sz="2800" b="0" i="0" u="none" strike="noStrike" cap="none" normalizeH="0" baseline="0" dirty="0">
                <a:ln>
                  <a:noFill/>
                </a:ln>
                <a:solidFill>
                  <a:srgbClr val="273239"/>
                </a:solidFill>
                <a:effectLst/>
                <a:latin typeface="Consolas" panose="020B0609020204030204" pitchFamily="49" charset="0"/>
              </a:rPr>
              <a:t>" class="</a:t>
            </a:r>
            <a:r>
              <a:rPr kumimoji="0" lang="en-US" altLang="en-US" sz="2800" b="1" i="0" u="none" strike="noStrike" cap="none" normalizeH="0" baseline="0" dirty="0" err="1">
                <a:ln>
                  <a:noFill/>
                </a:ln>
                <a:solidFill>
                  <a:srgbClr val="FF0000"/>
                </a:solidFill>
                <a:effectLst/>
                <a:latin typeface="Consolas" panose="020B0609020204030204" pitchFamily="49" charset="0"/>
              </a:rPr>
              <a:t>img</a:t>
            </a:r>
            <a:r>
              <a:rPr kumimoji="0" lang="en-US" altLang="en-US" sz="2800" b="1" i="0" u="none" strike="noStrike" cap="none" normalizeH="0" baseline="0" dirty="0">
                <a:ln>
                  <a:noFill/>
                </a:ln>
                <a:solidFill>
                  <a:srgbClr val="FF0000"/>
                </a:solidFill>
                <a:effectLst/>
                <a:latin typeface="Consolas" panose="020B0609020204030204" pitchFamily="49" charset="0"/>
              </a:rPr>
              <a:t>-thumbnail</a:t>
            </a:r>
            <a:r>
              <a:rPr kumimoji="0" lang="en-US" altLang="en-US" sz="2800" b="0" i="0" u="none" strike="noStrike" cap="none" normalizeH="0" baseline="0" dirty="0">
                <a:ln>
                  <a:noFill/>
                </a:ln>
                <a:solidFill>
                  <a:srgbClr val="273239"/>
                </a:solidFill>
                <a:effectLst/>
                <a:latin typeface="Consolas" panose="020B0609020204030204" pitchFamily="49" charset="0"/>
              </a:rPr>
              <a:t>" ...&gt;</a:t>
            </a:r>
            <a:r>
              <a:rPr kumimoji="0" lang="en-US" altLang="en-US" sz="1400" b="0" i="0" u="none" strike="noStrike" cap="none" normalizeH="0" baseline="0" dirty="0">
                <a:ln>
                  <a:noFill/>
                </a:ln>
                <a:solidFill>
                  <a:schemeClr val="tx1"/>
                </a:solidFill>
                <a:effectLst/>
              </a:rPr>
              <a:t> </a:t>
            </a:r>
            <a:endParaRPr lang="en-US" b="0" i="0" dirty="0">
              <a:solidFill>
                <a:srgbClr val="273239"/>
              </a:solidFill>
              <a:effectLst/>
              <a:latin typeface="urw-din"/>
            </a:endParaRPr>
          </a:p>
          <a:p>
            <a:endParaRPr lang="en-IN" dirty="0"/>
          </a:p>
        </p:txBody>
      </p:sp>
    </p:spTree>
    <p:extLst>
      <p:ext uri="{BB962C8B-B14F-4D97-AF65-F5344CB8AC3E}">
        <p14:creationId xmlns:p14="http://schemas.microsoft.com/office/powerpoint/2010/main" val="23716408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5625E-A8B2-C922-A207-23E12C4E1CC5}"/>
              </a:ext>
            </a:extLst>
          </p:cNvPr>
          <p:cNvSpPr>
            <a:spLocks noGrp="1"/>
          </p:cNvSpPr>
          <p:nvPr>
            <p:ph type="title"/>
          </p:nvPr>
        </p:nvSpPr>
        <p:spPr/>
        <p:txBody>
          <a:bodyPr/>
          <a:lstStyle/>
          <a:p>
            <a:r>
              <a:rPr lang="en-IN" b="1" i="0" dirty="0">
                <a:solidFill>
                  <a:srgbClr val="273239"/>
                </a:solidFill>
                <a:effectLst/>
                <a:latin typeface="sofia-pro"/>
              </a:rPr>
              <a:t>Forms</a:t>
            </a:r>
            <a:br>
              <a:rPr lang="en-IN" b="1" i="0" dirty="0">
                <a:solidFill>
                  <a:srgbClr val="273239"/>
                </a:solidFill>
                <a:effectLst/>
                <a:latin typeface="sofia-pro"/>
              </a:rPr>
            </a:br>
            <a:endParaRPr lang="en-IN" dirty="0"/>
          </a:p>
        </p:txBody>
      </p:sp>
      <p:sp>
        <p:nvSpPr>
          <p:cNvPr id="3" name="Content Placeholder 2">
            <a:extLst>
              <a:ext uri="{FF2B5EF4-FFF2-40B4-BE49-F238E27FC236}">
                <a16:creationId xmlns:a16="http://schemas.microsoft.com/office/drawing/2014/main" id="{32737369-6039-D1E5-2F39-DD61A191686E}"/>
              </a:ext>
            </a:extLst>
          </p:cNvPr>
          <p:cNvSpPr>
            <a:spLocks noGrp="1"/>
          </p:cNvSpPr>
          <p:nvPr>
            <p:ph idx="1"/>
          </p:nvPr>
        </p:nvSpPr>
        <p:spPr/>
        <p:txBody>
          <a:bodyPr/>
          <a:lstStyle/>
          <a:p>
            <a:pPr fontAlgn="base"/>
            <a:r>
              <a:rPr lang="en-US" dirty="0"/>
              <a:t>Creating forms in </a:t>
            </a:r>
            <a:r>
              <a:rPr lang="en-US" b="1" dirty="0"/>
              <a:t>Bootstrap</a:t>
            </a:r>
            <a:r>
              <a:rPr lang="en-US" dirty="0"/>
              <a:t> is straightforward and can be customized with various components for a clean and responsive design. Bootstrap offers form controls, layouts, validation, and custom styling to make forms both functional and visually appealing.</a:t>
            </a:r>
            <a:endParaRPr lang="en-IN" dirty="0"/>
          </a:p>
        </p:txBody>
      </p:sp>
    </p:spTree>
    <p:extLst>
      <p:ext uri="{BB962C8B-B14F-4D97-AF65-F5344CB8AC3E}">
        <p14:creationId xmlns:p14="http://schemas.microsoft.com/office/powerpoint/2010/main" val="13584537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Basics of Form</a:t>
            </a:r>
            <a:endParaRPr lang="en-IN" b="1" dirty="0"/>
          </a:p>
        </p:txBody>
      </p:sp>
      <p:sp>
        <p:nvSpPr>
          <p:cNvPr id="3" name="Content Placeholder 2"/>
          <p:cNvSpPr>
            <a:spLocks noGrp="1"/>
          </p:cNvSpPr>
          <p:nvPr>
            <p:ph idx="1"/>
          </p:nvPr>
        </p:nvSpPr>
        <p:spPr/>
        <p:txBody>
          <a:bodyPr>
            <a:normAutofit lnSpcReduction="10000"/>
          </a:bodyPr>
          <a:lstStyle/>
          <a:p>
            <a:pPr marL="0" indent="0">
              <a:buNone/>
            </a:pPr>
            <a:r>
              <a:rPr lang="en-US" dirty="0"/>
              <a:t>container: The container class is used to center the form and add margins.</a:t>
            </a:r>
          </a:p>
          <a:p>
            <a:pPr marL="0" indent="0">
              <a:buNone/>
            </a:pPr>
            <a:r>
              <a:rPr lang="en-US" dirty="0"/>
              <a:t>form-control: This class is applied to form inputs (text, email, password) to give them a consistent style with padding and borders.</a:t>
            </a:r>
          </a:p>
          <a:p>
            <a:pPr marL="0" indent="0">
              <a:buNone/>
            </a:pPr>
            <a:r>
              <a:rPr lang="en-US" dirty="0"/>
              <a:t>mb-3: This is a margin class (mb-3 adds margin to the bottom of the form groups) that creates spacing between form elements.</a:t>
            </a:r>
          </a:p>
          <a:p>
            <a:pPr marL="0" indent="0">
              <a:buNone/>
            </a:pPr>
            <a:r>
              <a:rPr lang="en-US" dirty="0"/>
              <a:t>form-label: A class for labels, making them consistent with Bootstrap's styling.</a:t>
            </a:r>
          </a:p>
          <a:p>
            <a:pPr marL="0" indent="0">
              <a:buNone/>
            </a:pPr>
            <a:r>
              <a:rPr lang="en-US" dirty="0" err="1"/>
              <a:t>btn</a:t>
            </a:r>
            <a:r>
              <a:rPr lang="en-US" dirty="0"/>
              <a:t>: This is the class for buttons in Bootstrap. It is used with the </a:t>
            </a:r>
            <a:r>
              <a:rPr lang="en-US" dirty="0" err="1"/>
              <a:t>btn</a:t>
            </a:r>
            <a:r>
              <a:rPr lang="en-US" dirty="0"/>
              <a:t>-primary class to apply Bootstrap's default button style.</a:t>
            </a:r>
            <a:endParaRPr lang="en-IN" dirty="0"/>
          </a:p>
        </p:txBody>
      </p:sp>
    </p:spTree>
    <p:extLst>
      <p:ext uri="{BB962C8B-B14F-4D97-AF65-F5344CB8AC3E}">
        <p14:creationId xmlns:p14="http://schemas.microsoft.com/office/powerpoint/2010/main" val="32285490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Design a form with name, email, password, and a submit button.</a:t>
            </a:r>
            <a:endParaRPr lang="en-IN" dirty="0"/>
          </a:p>
        </p:txBody>
      </p:sp>
    </p:spTree>
    <p:extLst>
      <p:ext uri="{BB962C8B-B14F-4D97-AF65-F5344CB8AC3E}">
        <p14:creationId xmlns:p14="http://schemas.microsoft.com/office/powerpoint/2010/main" val="16335045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Typography in Bootstrap</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b="1" dirty="0"/>
              <a:t>Font Size </a:t>
            </a:r>
            <a:r>
              <a:rPr lang="en-IN" b="1" dirty="0" smtClean="0"/>
              <a:t>:</a:t>
            </a:r>
          </a:p>
          <a:p>
            <a:pPr marL="0" indent="0">
              <a:buNone/>
            </a:pPr>
            <a:r>
              <a:rPr lang="en-US" dirty="0" smtClean="0"/>
              <a:t>Use </a:t>
            </a:r>
            <a:r>
              <a:rPr lang="en-US" dirty="0"/>
              <a:t>text size classes like fs-1, fs-2, etc., to adjust the font size. </a:t>
            </a:r>
            <a:endParaRPr lang="en-US" dirty="0" smtClean="0"/>
          </a:p>
          <a:p>
            <a:pPr marL="0" indent="0">
              <a:buNone/>
            </a:pPr>
            <a:endParaRPr lang="en-US" dirty="0"/>
          </a:p>
          <a:p>
            <a:pPr marL="0" indent="0">
              <a:buNone/>
            </a:pPr>
            <a:r>
              <a:rPr lang="en-US" dirty="0" smtClean="0"/>
              <a:t>&lt;</a:t>
            </a:r>
            <a:r>
              <a:rPr lang="en-US" dirty="0"/>
              <a:t>h1 class="fs-1"&gt;Heading 1 (Largest)&lt;/h1&gt;</a:t>
            </a:r>
          </a:p>
          <a:p>
            <a:pPr marL="0" indent="0">
              <a:buNone/>
            </a:pPr>
            <a:r>
              <a:rPr lang="en-US" dirty="0"/>
              <a:t>&lt;h2 class="fs-2"&gt;Heading 2&lt;/h2&gt;</a:t>
            </a:r>
          </a:p>
          <a:p>
            <a:pPr marL="0" indent="0">
              <a:buNone/>
            </a:pPr>
            <a:r>
              <a:rPr lang="en-US" dirty="0"/>
              <a:t>&lt;h3 class="fs-3"&gt;Heading 3&lt;/h3&gt;</a:t>
            </a:r>
          </a:p>
          <a:p>
            <a:pPr marL="0" indent="0">
              <a:buNone/>
            </a:pPr>
            <a:r>
              <a:rPr lang="en-US" dirty="0"/>
              <a:t>&lt;h4 class="fs-4"&gt;Heading 4&lt;/h4&gt;</a:t>
            </a:r>
          </a:p>
          <a:p>
            <a:pPr marL="0" indent="0">
              <a:buNone/>
            </a:pPr>
            <a:r>
              <a:rPr lang="en-US" dirty="0"/>
              <a:t>&lt;h5 class="fs-5"&gt;Heading 5&lt;/h5&gt;</a:t>
            </a:r>
          </a:p>
          <a:p>
            <a:pPr marL="0" indent="0">
              <a:buNone/>
            </a:pPr>
            <a:r>
              <a:rPr lang="en-US" dirty="0"/>
              <a:t>&lt;h6 class="fs-6"&gt;Heading 6 (Smallest)&lt;/h6&gt;</a:t>
            </a:r>
          </a:p>
          <a:p>
            <a:pPr marL="0" indent="0">
              <a:buNone/>
            </a:pPr>
            <a:endParaRPr lang="en-IN" dirty="0"/>
          </a:p>
        </p:txBody>
      </p:sp>
    </p:spTree>
    <p:extLst>
      <p:ext uri="{BB962C8B-B14F-4D97-AF65-F5344CB8AC3E}">
        <p14:creationId xmlns:p14="http://schemas.microsoft.com/office/powerpoint/2010/main" val="2142713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Typography in Bootstrap</a:t>
            </a:r>
            <a:endParaRPr lang="en-IN" dirty="0"/>
          </a:p>
        </p:txBody>
      </p:sp>
      <p:sp>
        <p:nvSpPr>
          <p:cNvPr id="3" name="Content Placeholder 2"/>
          <p:cNvSpPr>
            <a:spLocks noGrp="1"/>
          </p:cNvSpPr>
          <p:nvPr>
            <p:ph idx="1"/>
          </p:nvPr>
        </p:nvSpPr>
        <p:spPr/>
        <p:txBody>
          <a:bodyPr>
            <a:normAutofit/>
          </a:bodyPr>
          <a:lstStyle/>
          <a:p>
            <a:pPr marL="0" indent="0">
              <a:buNone/>
            </a:pPr>
            <a:r>
              <a:rPr lang="en-IN" b="1" dirty="0"/>
              <a:t>Text </a:t>
            </a:r>
            <a:r>
              <a:rPr lang="en-IN" b="1" dirty="0" smtClean="0"/>
              <a:t>Alignment</a:t>
            </a:r>
          </a:p>
          <a:p>
            <a:pPr marL="0" indent="0">
              <a:buNone/>
            </a:pPr>
            <a:r>
              <a:rPr lang="en-US" dirty="0"/>
              <a:t>&lt;p class="text-start"&gt;This text is left-aligned.&lt;/p</a:t>
            </a:r>
            <a:r>
              <a:rPr lang="en-US" dirty="0" smtClean="0"/>
              <a:t>&gt;</a:t>
            </a:r>
          </a:p>
          <a:p>
            <a:pPr marL="0" indent="0">
              <a:buNone/>
            </a:pPr>
            <a:r>
              <a:rPr lang="en-US" dirty="0" smtClean="0"/>
              <a:t> </a:t>
            </a:r>
            <a:r>
              <a:rPr lang="en-US" dirty="0"/>
              <a:t>&lt;p class="text-center"&gt;This text is centered.&lt;/p&gt; </a:t>
            </a:r>
            <a:endParaRPr lang="en-US" dirty="0" smtClean="0"/>
          </a:p>
          <a:p>
            <a:pPr marL="0" indent="0">
              <a:buNone/>
            </a:pPr>
            <a:r>
              <a:rPr lang="en-US" dirty="0" smtClean="0"/>
              <a:t>&lt;</a:t>
            </a:r>
            <a:r>
              <a:rPr lang="en-US" dirty="0"/>
              <a:t>p class="text-end"&gt;This text is right-aligned.&lt;/p</a:t>
            </a:r>
            <a:r>
              <a:rPr lang="en-US" dirty="0" smtClean="0"/>
              <a:t>&gt;</a:t>
            </a:r>
          </a:p>
          <a:p>
            <a:pPr marL="0" indent="0">
              <a:buNone/>
            </a:pPr>
            <a:r>
              <a:rPr lang="en-IN" b="1" dirty="0"/>
              <a:t>Font Weight</a:t>
            </a:r>
            <a:endParaRPr lang="en-IN" b="1" dirty="0" smtClean="0"/>
          </a:p>
          <a:p>
            <a:pPr marL="0" indent="0">
              <a:buNone/>
            </a:pPr>
            <a:r>
              <a:rPr lang="en-US" dirty="0" smtClean="0"/>
              <a:t>&lt;p </a:t>
            </a:r>
            <a:r>
              <a:rPr lang="en-US" dirty="0"/>
              <a:t>class="</a:t>
            </a:r>
            <a:r>
              <a:rPr lang="en-US" dirty="0" err="1"/>
              <a:t>fw</a:t>
            </a:r>
            <a:r>
              <a:rPr lang="en-US" dirty="0"/>
              <a:t>-bold"&gt;This text is bold.&lt;/p&gt;</a:t>
            </a:r>
          </a:p>
          <a:p>
            <a:pPr marL="0" indent="0">
              <a:buNone/>
            </a:pPr>
            <a:r>
              <a:rPr lang="en-US" dirty="0"/>
              <a:t>&lt;p class="</a:t>
            </a:r>
            <a:r>
              <a:rPr lang="en-US" dirty="0" err="1"/>
              <a:t>fw</a:t>
            </a:r>
            <a:r>
              <a:rPr lang="en-US" dirty="0"/>
              <a:t>-light"&gt;This text is light weight.&lt;/p&gt;</a:t>
            </a:r>
          </a:p>
          <a:p>
            <a:pPr marL="0" indent="0">
              <a:buNone/>
            </a:pPr>
            <a:r>
              <a:rPr lang="en-US" dirty="0"/>
              <a:t>&lt;p class="</a:t>
            </a:r>
            <a:r>
              <a:rPr lang="en-US" dirty="0" err="1"/>
              <a:t>fw</a:t>
            </a:r>
            <a:r>
              <a:rPr lang="en-US" dirty="0"/>
              <a:t>-normal"&gt;This text is normal weight.&lt;/p&gt;</a:t>
            </a:r>
          </a:p>
          <a:p>
            <a:pPr marL="0" indent="0">
              <a:buNone/>
            </a:pPr>
            <a:endParaRPr lang="en-IN" dirty="0"/>
          </a:p>
        </p:txBody>
      </p:sp>
    </p:spTree>
    <p:extLst>
      <p:ext uri="{BB962C8B-B14F-4D97-AF65-F5344CB8AC3E}">
        <p14:creationId xmlns:p14="http://schemas.microsoft.com/office/powerpoint/2010/main" val="12672408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a:t>Text </a:t>
            </a:r>
            <a:r>
              <a:rPr lang="en-IN" b="1" dirty="0" smtClean="0"/>
              <a:t>Transform</a:t>
            </a:r>
          </a:p>
          <a:p>
            <a:pPr marL="0" indent="0">
              <a:buNone/>
            </a:pPr>
            <a:r>
              <a:rPr lang="en-US" dirty="0" smtClean="0"/>
              <a:t>&lt;p </a:t>
            </a:r>
            <a:r>
              <a:rPr lang="en-US" dirty="0"/>
              <a:t>class="text-uppercase"&gt;This text is uppercase.&lt;/p&gt;</a:t>
            </a:r>
          </a:p>
          <a:p>
            <a:pPr marL="0" indent="0">
              <a:buNone/>
            </a:pPr>
            <a:r>
              <a:rPr lang="en-US" dirty="0"/>
              <a:t>&lt;p class="text-lowercase"&gt;This text is lowercase.&lt;/p&gt;</a:t>
            </a:r>
          </a:p>
          <a:p>
            <a:pPr marL="0" indent="0">
              <a:buNone/>
            </a:pPr>
            <a:r>
              <a:rPr lang="en-US" dirty="0"/>
              <a:t>&lt;p class="text-capitalize"&gt;This text has capitalized first letters.&lt;/p&gt;</a:t>
            </a:r>
          </a:p>
          <a:p>
            <a:pPr marL="0" indent="0">
              <a:buNone/>
            </a:pPr>
            <a:r>
              <a:rPr lang="en-IN" b="1" dirty="0"/>
              <a:t>Line </a:t>
            </a:r>
            <a:r>
              <a:rPr lang="en-IN" b="1" dirty="0" smtClean="0"/>
              <a:t>Height</a:t>
            </a:r>
          </a:p>
          <a:p>
            <a:pPr marL="0" indent="0">
              <a:buNone/>
            </a:pPr>
            <a:r>
              <a:rPr lang="en-US" dirty="0"/>
              <a:t>&lt;p class="lh-1"&gt;This paragraph has a small line height.&lt;/p&gt;</a:t>
            </a:r>
          </a:p>
          <a:p>
            <a:pPr marL="0" indent="0">
              <a:buNone/>
            </a:pPr>
            <a:r>
              <a:rPr lang="en-US" dirty="0"/>
              <a:t>&lt;p class="</a:t>
            </a:r>
            <a:r>
              <a:rPr lang="en-US" dirty="0" err="1"/>
              <a:t>lh-sm</a:t>
            </a:r>
            <a:r>
              <a:rPr lang="en-US" dirty="0"/>
              <a:t>"&gt;This paragraph has a small line height (small). &lt;/p&gt;</a:t>
            </a:r>
          </a:p>
          <a:p>
            <a:pPr marL="0" indent="0">
              <a:buNone/>
            </a:pPr>
            <a:r>
              <a:rPr lang="en-US" dirty="0"/>
              <a:t>&lt;p class="</a:t>
            </a:r>
            <a:r>
              <a:rPr lang="en-US" dirty="0" err="1"/>
              <a:t>lh-lg</a:t>
            </a:r>
            <a:r>
              <a:rPr lang="en-US" dirty="0"/>
              <a:t>"&gt;This paragraph has a larger line height.&lt;/p&gt;</a:t>
            </a:r>
          </a:p>
          <a:p>
            <a:pPr marL="0" indent="0">
              <a:buNone/>
            </a:pPr>
            <a:endParaRPr lang="en-IN" b="1" dirty="0"/>
          </a:p>
        </p:txBody>
      </p:sp>
      <p:sp>
        <p:nvSpPr>
          <p:cNvPr id="4" name="Title 1"/>
          <p:cNvSpPr>
            <a:spLocks noGrp="1"/>
          </p:cNvSpPr>
          <p:nvPr>
            <p:ph type="title"/>
          </p:nvPr>
        </p:nvSpPr>
        <p:spPr>
          <a:xfrm>
            <a:off x="838200" y="365125"/>
            <a:ext cx="10515600" cy="1325563"/>
          </a:xfrm>
        </p:spPr>
        <p:txBody>
          <a:bodyPr/>
          <a:lstStyle/>
          <a:p>
            <a:r>
              <a:rPr lang="en-US" dirty="0" smtClean="0"/>
              <a:t>Typography in Bootstrap</a:t>
            </a:r>
            <a:endParaRPr lang="en-IN" dirty="0"/>
          </a:p>
        </p:txBody>
      </p:sp>
    </p:spTree>
    <p:extLst>
      <p:ext uri="{BB962C8B-B14F-4D97-AF65-F5344CB8AC3E}">
        <p14:creationId xmlns:p14="http://schemas.microsoft.com/office/powerpoint/2010/main" val="1448513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a:t>Line </a:t>
            </a:r>
            <a:r>
              <a:rPr lang="en-IN" b="1" dirty="0" smtClean="0"/>
              <a:t>Height</a:t>
            </a:r>
          </a:p>
          <a:p>
            <a:pPr marL="0" indent="0">
              <a:buNone/>
            </a:pPr>
            <a:r>
              <a:rPr lang="en-US" dirty="0" smtClean="0"/>
              <a:t>&lt;p </a:t>
            </a:r>
            <a:r>
              <a:rPr lang="en-US" dirty="0"/>
              <a:t>class="lh-1"&gt;This paragraph has a small line height.&lt;/p&gt;</a:t>
            </a:r>
          </a:p>
          <a:p>
            <a:pPr marL="0" indent="0">
              <a:buNone/>
            </a:pPr>
            <a:r>
              <a:rPr lang="en-US" dirty="0"/>
              <a:t>&lt;p class="</a:t>
            </a:r>
            <a:r>
              <a:rPr lang="en-US" dirty="0" err="1"/>
              <a:t>lh-sm</a:t>
            </a:r>
            <a:r>
              <a:rPr lang="en-US" dirty="0"/>
              <a:t>"&gt;This paragraph has a small line height (small). &lt;/p&gt;</a:t>
            </a:r>
          </a:p>
          <a:p>
            <a:pPr marL="0" indent="0">
              <a:buNone/>
            </a:pPr>
            <a:r>
              <a:rPr lang="en-US" dirty="0"/>
              <a:t>&lt;p class="</a:t>
            </a:r>
            <a:r>
              <a:rPr lang="en-US" dirty="0" err="1" smtClean="0"/>
              <a:t>lh-lg</a:t>
            </a:r>
            <a:r>
              <a:rPr lang="en-US" dirty="0"/>
              <a:t>"&gt;This paragraph has a larger line height.&lt;/p</a:t>
            </a:r>
            <a:r>
              <a:rPr lang="en-US" dirty="0" smtClean="0"/>
              <a:t>&gt;</a:t>
            </a:r>
          </a:p>
          <a:p>
            <a:pPr marL="0" indent="0">
              <a:buNone/>
            </a:pPr>
            <a:endParaRPr lang="en-US" dirty="0" smtClean="0"/>
          </a:p>
          <a:p>
            <a:pPr marL="0" indent="0">
              <a:buNone/>
            </a:pPr>
            <a:r>
              <a:rPr lang="en-US" dirty="0"/>
              <a:t>lh-1: Reduces the line height.</a:t>
            </a:r>
          </a:p>
          <a:p>
            <a:pPr marL="0" indent="0">
              <a:buNone/>
            </a:pPr>
            <a:r>
              <a:rPr lang="en-US" dirty="0" err="1"/>
              <a:t>lh-sm</a:t>
            </a:r>
            <a:r>
              <a:rPr lang="en-US" dirty="0"/>
              <a:t>: Sets the line height to a smaller value.</a:t>
            </a:r>
          </a:p>
          <a:p>
            <a:pPr marL="0" indent="0">
              <a:buNone/>
            </a:pPr>
            <a:r>
              <a:rPr lang="en-US" dirty="0" err="1"/>
              <a:t>lh-lg</a:t>
            </a:r>
            <a:r>
              <a:rPr lang="en-US" dirty="0"/>
              <a:t>: Sets the line height to a larger value.</a:t>
            </a:r>
          </a:p>
        </p:txBody>
      </p:sp>
      <p:sp>
        <p:nvSpPr>
          <p:cNvPr id="4" name="Title 1"/>
          <p:cNvSpPr>
            <a:spLocks noGrp="1"/>
          </p:cNvSpPr>
          <p:nvPr>
            <p:ph type="title"/>
          </p:nvPr>
        </p:nvSpPr>
        <p:spPr>
          <a:xfrm>
            <a:off x="838200" y="365125"/>
            <a:ext cx="10515600" cy="1325563"/>
          </a:xfrm>
        </p:spPr>
        <p:txBody>
          <a:bodyPr/>
          <a:lstStyle/>
          <a:p>
            <a:r>
              <a:rPr lang="en-US" dirty="0" smtClean="0"/>
              <a:t>Typography in Bootstrap</a:t>
            </a:r>
            <a:endParaRPr lang="en-IN" dirty="0"/>
          </a:p>
        </p:txBody>
      </p:sp>
    </p:spTree>
    <p:extLst>
      <p:ext uri="{BB962C8B-B14F-4D97-AF65-F5344CB8AC3E}">
        <p14:creationId xmlns:p14="http://schemas.microsoft.com/office/powerpoint/2010/main" val="30572321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Bootstrap text </a:t>
            </a:r>
            <a:r>
              <a:rPr lang="en-US" b="1" dirty="0"/>
              <a:t>colors </a:t>
            </a:r>
            <a:endParaRPr lang="en-IN" b="1" dirty="0"/>
          </a:p>
        </p:txBody>
      </p:sp>
      <p:sp>
        <p:nvSpPr>
          <p:cNvPr id="3" name="Content Placeholder 2"/>
          <p:cNvSpPr>
            <a:spLocks noGrp="1"/>
          </p:cNvSpPr>
          <p:nvPr>
            <p:ph idx="1"/>
          </p:nvPr>
        </p:nvSpPr>
        <p:spPr>
          <a:xfrm>
            <a:off x="838200" y="1925638"/>
            <a:ext cx="10515600" cy="4351338"/>
          </a:xfrm>
        </p:spPr>
        <p:txBody>
          <a:bodyPr>
            <a:normAutofit fontScale="92500" lnSpcReduction="20000"/>
          </a:bodyPr>
          <a:lstStyle/>
          <a:p>
            <a:r>
              <a:rPr lang="en-US" dirty="0"/>
              <a:t>&lt;p class="text-primary"&gt;This text is blue (primary color).&lt;/p&gt;</a:t>
            </a:r>
          </a:p>
          <a:p>
            <a:r>
              <a:rPr lang="en-US" dirty="0"/>
              <a:t>&lt;p class="text-secondary"&gt;This text is gray (secondary color).&lt;/p&gt;</a:t>
            </a:r>
          </a:p>
          <a:p>
            <a:r>
              <a:rPr lang="en-US" dirty="0"/>
              <a:t>&lt;p class="text-success"&gt;This text is green (success color).&lt;/p&gt;</a:t>
            </a:r>
          </a:p>
          <a:p>
            <a:r>
              <a:rPr lang="en-US" dirty="0"/>
              <a:t>&lt;p class="text-danger"&gt;This text is red (danger color).&lt;/p&gt;</a:t>
            </a:r>
          </a:p>
          <a:p>
            <a:r>
              <a:rPr lang="en-US" dirty="0"/>
              <a:t>&lt;p class="text-warning"&gt;This text is yellow (warning color).&lt;/p&gt;</a:t>
            </a:r>
          </a:p>
          <a:p>
            <a:r>
              <a:rPr lang="en-US" dirty="0"/>
              <a:t>&lt;p class="text-info"&gt;This text is light blue (info color).&lt;/p&gt;</a:t>
            </a:r>
          </a:p>
          <a:p>
            <a:r>
              <a:rPr lang="en-US" dirty="0"/>
              <a:t>&lt;p class="text-light </a:t>
            </a:r>
            <a:r>
              <a:rPr lang="en-US" dirty="0" err="1"/>
              <a:t>bg</a:t>
            </a:r>
            <a:r>
              <a:rPr lang="en-US" dirty="0"/>
              <a:t>-dark"&gt;This text is light, with dark background.&lt;/p&gt;</a:t>
            </a:r>
          </a:p>
          <a:p>
            <a:r>
              <a:rPr lang="en-US" dirty="0"/>
              <a:t>&lt;p class="text-dark"&gt;This text is dark (default color).&lt;/p&gt;</a:t>
            </a:r>
          </a:p>
          <a:p>
            <a:r>
              <a:rPr lang="en-US" dirty="0"/>
              <a:t>&lt;p class="text-muted"&gt;This text is muted (lighter color).&lt;/p&gt;</a:t>
            </a:r>
          </a:p>
          <a:p>
            <a:r>
              <a:rPr lang="en-US" dirty="0"/>
              <a:t>&lt;p class="text-white </a:t>
            </a:r>
            <a:r>
              <a:rPr lang="en-US" dirty="0" err="1"/>
              <a:t>bg</a:t>
            </a:r>
            <a:r>
              <a:rPr lang="en-US" dirty="0"/>
              <a:t>-dark"&gt;This text is white on a dark background.&lt;/p&gt;</a:t>
            </a:r>
          </a:p>
          <a:p>
            <a:endParaRPr lang="en-IN" dirty="0"/>
          </a:p>
        </p:txBody>
      </p:sp>
    </p:spTree>
    <p:extLst>
      <p:ext uri="{BB962C8B-B14F-4D97-AF65-F5344CB8AC3E}">
        <p14:creationId xmlns:p14="http://schemas.microsoft.com/office/powerpoint/2010/main" val="18378359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t>
            </a:r>
            <a:r>
              <a:rPr lang="en-US" dirty="0" smtClean="0"/>
              <a:t>Colors – </a:t>
            </a:r>
            <a:r>
              <a:rPr lang="en-US" dirty="0"/>
              <a:t>Background</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Available </a:t>
            </a:r>
            <a:r>
              <a:rPr lang="en-US" dirty="0"/>
              <a:t>Classes for Background Colors:</a:t>
            </a:r>
          </a:p>
          <a:p>
            <a:r>
              <a:rPr lang="en-US" dirty="0" err="1"/>
              <a:t>bg</a:t>
            </a:r>
            <a:r>
              <a:rPr lang="en-US" dirty="0"/>
              <a:t>-primary: Applies the primary background color.</a:t>
            </a:r>
          </a:p>
          <a:p>
            <a:r>
              <a:rPr lang="en-US" dirty="0" err="1"/>
              <a:t>bg</a:t>
            </a:r>
            <a:r>
              <a:rPr lang="en-US" dirty="0"/>
              <a:t>-secondary: Applies the secondary background color.</a:t>
            </a:r>
          </a:p>
          <a:p>
            <a:r>
              <a:rPr lang="en-US" dirty="0" err="1"/>
              <a:t>bg</a:t>
            </a:r>
            <a:r>
              <a:rPr lang="en-US" dirty="0"/>
              <a:t>-success: Applies the success background color.</a:t>
            </a:r>
          </a:p>
          <a:p>
            <a:r>
              <a:rPr lang="en-US" dirty="0" err="1"/>
              <a:t>bg</a:t>
            </a:r>
            <a:r>
              <a:rPr lang="en-US" dirty="0"/>
              <a:t>-danger: Applies the danger background color.</a:t>
            </a:r>
          </a:p>
          <a:p>
            <a:r>
              <a:rPr lang="en-US" dirty="0" err="1"/>
              <a:t>bg</a:t>
            </a:r>
            <a:r>
              <a:rPr lang="en-US" dirty="0"/>
              <a:t>-warning: Applies the warning background color.</a:t>
            </a:r>
          </a:p>
          <a:p>
            <a:r>
              <a:rPr lang="en-US" dirty="0" err="1"/>
              <a:t>bg</a:t>
            </a:r>
            <a:r>
              <a:rPr lang="en-US" dirty="0"/>
              <a:t>-info: Applies the info background color.</a:t>
            </a:r>
          </a:p>
          <a:p>
            <a:r>
              <a:rPr lang="en-US" dirty="0" err="1"/>
              <a:t>bg</a:t>
            </a:r>
            <a:r>
              <a:rPr lang="en-US" dirty="0"/>
              <a:t>-light: Applies the light background color (usually white or light gray).</a:t>
            </a:r>
          </a:p>
          <a:p>
            <a:r>
              <a:rPr lang="en-US" dirty="0" err="1"/>
              <a:t>bg</a:t>
            </a:r>
            <a:r>
              <a:rPr lang="en-US" dirty="0"/>
              <a:t>-dark: Applies the dark background color (usually black or dark gray).</a:t>
            </a:r>
          </a:p>
          <a:p>
            <a:r>
              <a:rPr lang="en-US" dirty="0" err="1"/>
              <a:t>bg</a:t>
            </a:r>
            <a:r>
              <a:rPr lang="en-US" dirty="0"/>
              <a:t>-white: Applies a white background.</a:t>
            </a:r>
          </a:p>
          <a:p>
            <a:r>
              <a:rPr lang="en-US" dirty="0" err="1"/>
              <a:t>bg</a:t>
            </a:r>
            <a:r>
              <a:rPr lang="en-US" dirty="0"/>
              <a:t>-transparent: Makes the background transparent.</a:t>
            </a:r>
            <a:endParaRPr lang="en-IN" dirty="0"/>
          </a:p>
        </p:txBody>
      </p:sp>
    </p:spTree>
    <p:extLst>
      <p:ext uri="{BB962C8B-B14F-4D97-AF65-F5344CB8AC3E}">
        <p14:creationId xmlns:p14="http://schemas.microsoft.com/office/powerpoint/2010/main" val="3379741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Border </a:t>
            </a:r>
            <a:r>
              <a:rPr lang="en-IN" dirty="0" err="1"/>
              <a:t>Colors</a:t>
            </a:r>
            <a:endParaRPr lang="en-IN" dirty="0"/>
          </a:p>
        </p:txBody>
      </p:sp>
      <p:sp>
        <p:nvSpPr>
          <p:cNvPr id="3" name="Content Placeholder 2"/>
          <p:cNvSpPr>
            <a:spLocks noGrp="1"/>
          </p:cNvSpPr>
          <p:nvPr>
            <p:ph idx="1"/>
          </p:nvPr>
        </p:nvSpPr>
        <p:spPr/>
        <p:txBody>
          <a:bodyPr>
            <a:normAutofit fontScale="92500" lnSpcReduction="20000"/>
          </a:bodyPr>
          <a:lstStyle/>
          <a:p>
            <a:r>
              <a:rPr lang="en-IN" dirty="0"/>
              <a:t>border-primary: Adds a blue (primary) border.</a:t>
            </a:r>
          </a:p>
          <a:p>
            <a:r>
              <a:rPr lang="en-IN" dirty="0"/>
              <a:t>border-secondary: Adds a </a:t>
            </a:r>
            <a:r>
              <a:rPr lang="en-IN" dirty="0" err="1"/>
              <a:t>gray</a:t>
            </a:r>
            <a:r>
              <a:rPr lang="en-IN" dirty="0"/>
              <a:t> (secondary) border.</a:t>
            </a:r>
          </a:p>
          <a:p>
            <a:r>
              <a:rPr lang="en-IN" dirty="0"/>
              <a:t>border-success: Adds a green (success) border.</a:t>
            </a:r>
          </a:p>
          <a:p>
            <a:r>
              <a:rPr lang="en-IN" dirty="0"/>
              <a:t>border-danger: Adds a red (danger) border.</a:t>
            </a:r>
          </a:p>
          <a:p>
            <a:r>
              <a:rPr lang="en-IN" dirty="0"/>
              <a:t>border-warning: Adds a yellow (warning) border.</a:t>
            </a:r>
          </a:p>
          <a:p>
            <a:r>
              <a:rPr lang="en-IN" dirty="0"/>
              <a:t>border-info: Adds a light blue (info) border.</a:t>
            </a:r>
          </a:p>
          <a:p>
            <a:r>
              <a:rPr lang="en-IN" dirty="0"/>
              <a:t>border-light: Adds a light </a:t>
            </a:r>
            <a:r>
              <a:rPr lang="en-IN" dirty="0" err="1"/>
              <a:t>gray</a:t>
            </a:r>
            <a:r>
              <a:rPr lang="en-IN" dirty="0"/>
              <a:t> border.</a:t>
            </a:r>
          </a:p>
          <a:p>
            <a:r>
              <a:rPr lang="en-IN" dirty="0"/>
              <a:t>border-dark: Adds a dark border.</a:t>
            </a:r>
          </a:p>
          <a:p>
            <a:r>
              <a:rPr lang="en-IN" dirty="0"/>
              <a:t>border-white: Adds a white border.</a:t>
            </a:r>
          </a:p>
          <a:p>
            <a:r>
              <a:rPr lang="en-IN" dirty="0"/>
              <a:t>border-transparent: Adds a transparent border.</a:t>
            </a:r>
          </a:p>
        </p:txBody>
      </p:sp>
    </p:spTree>
    <p:extLst>
      <p:ext uri="{BB962C8B-B14F-4D97-AF65-F5344CB8AC3E}">
        <p14:creationId xmlns:p14="http://schemas.microsoft.com/office/powerpoint/2010/main" val="24784174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text-opacity</a:t>
            </a:r>
            <a:endParaRPr lang="en-IN" dirty="0"/>
          </a:p>
        </p:txBody>
      </p:sp>
      <p:sp>
        <p:nvSpPr>
          <p:cNvPr id="3" name="Content Placeholder 2"/>
          <p:cNvSpPr>
            <a:spLocks noGrp="1"/>
          </p:cNvSpPr>
          <p:nvPr>
            <p:ph idx="1"/>
          </p:nvPr>
        </p:nvSpPr>
        <p:spPr>
          <a:xfrm>
            <a:off x="838200" y="1839913"/>
            <a:ext cx="10515600" cy="4351338"/>
          </a:xfrm>
        </p:spPr>
        <p:txBody>
          <a:bodyPr>
            <a:normAutofit/>
          </a:bodyPr>
          <a:lstStyle/>
          <a:p>
            <a:r>
              <a:rPr lang="en-US" b="1" dirty="0"/>
              <a:t>To change that opacity, override --</a:t>
            </a:r>
            <a:r>
              <a:rPr lang="en-US" b="1" dirty="0" err="1"/>
              <a:t>bs</a:t>
            </a:r>
            <a:r>
              <a:rPr lang="en-US" b="1" dirty="0"/>
              <a:t>-text-opacity via custom styles or inline styles</a:t>
            </a:r>
            <a:r>
              <a:rPr lang="en-US" b="1" dirty="0" smtClean="0"/>
              <a:t>.</a:t>
            </a:r>
          </a:p>
          <a:p>
            <a:endParaRPr lang="en-US" b="1" dirty="0" smtClean="0"/>
          </a:p>
          <a:p>
            <a:pPr marL="0" indent="0">
              <a:buNone/>
            </a:pPr>
            <a:r>
              <a:rPr lang="en-US" sz="2400" dirty="0"/>
              <a:t>&lt;div class="text-primary"&gt;This is default primary text&lt;/div&gt;</a:t>
            </a:r>
          </a:p>
          <a:p>
            <a:pPr marL="0" indent="0">
              <a:buNone/>
            </a:pPr>
            <a:r>
              <a:rPr lang="en-US" sz="2400" dirty="0"/>
              <a:t>&lt;div class="text-primary text-opacity-75"&gt;This is 75% opacity primary text&lt;/div&gt;</a:t>
            </a:r>
          </a:p>
          <a:p>
            <a:pPr marL="0" indent="0">
              <a:buNone/>
            </a:pPr>
            <a:r>
              <a:rPr lang="en-US" sz="2400" dirty="0"/>
              <a:t>&lt;div class="text-primary text-opacity-50"&gt;This is 50% opacity primary text&lt;/div&gt;</a:t>
            </a:r>
          </a:p>
          <a:p>
            <a:pPr marL="0" indent="0">
              <a:buNone/>
            </a:pPr>
            <a:r>
              <a:rPr lang="en-US" sz="2400" dirty="0"/>
              <a:t>&lt;div class="text-primary text-opacity-25"&gt;This is 25% opacity primary text&lt;/div&gt;</a:t>
            </a:r>
            <a:endParaRPr lang="en-IN" sz="2400" dirty="0"/>
          </a:p>
        </p:txBody>
      </p:sp>
    </p:spTree>
    <p:extLst>
      <p:ext uri="{BB962C8B-B14F-4D97-AF65-F5344CB8AC3E}">
        <p14:creationId xmlns:p14="http://schemas.microsoft.com/office/powerpoint/2010/main" val="1533674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create a page to show </a:t>
            </a:r>
            <a:r>
              <a:rPr lang="en-IN" dirty="0" smtClean="0"/>
              <a:t>font size , text transform, font weight ,text align, line height, </a:t>
            </a:r>
            <a:r>
              <a:rPr lang="en-IN" dirty="0" err="1" smtClean="0"/>
              <a:t>colors</a:t>
            </a:r>
            <a:r>
              <a:rPr lang="en-IN" dirty="0" smtClean="0"/>
              <a:t>, text opacity</a:t>
            </a:r>
          </a:p>
          <a:p>
            <a:endParaRPr lang="en-IN" sz="3200" dirty="0"/>
          </a:p>
        </p:txBody>
      </p:sp>
    </p:spTree>
    <p:extLst>
      <p:ext uri="{BB962C8B-B14F-4D97-AF65-F5344CB8AC3E}">
        <p14:creationId xmlns:p14="http://schemas.microsoft.com/office/powerpoint/2010/main" val="3411239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14645</TotalTime>
  <Words>2745</Words>
  <Application>Microsoft Office PowerPoint</Application>
  <PresentationFormat>Widescreen</PresentationFormat>
  <Paragraphs>295</Paragraphs>
  <Slides>54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Calibri</vt:lpstr>
      <vt:lpstr>Calibri Light</vt:lpstr>
      <vt:lpstr>Consolas</vt:lpstr>
      <vt:lpstr>Courier New</vt:lpstr>
      <vt:lpstr>sofia-pro</vt:lpstr>
      <vt:lpstr>Times New Roman</vt:lpstr>
      <vt:lpstr>urw-din</vt:lpstr>
      <vt:lpstr>Office Theme</vt:lpstr>
      <vt:lpstr>BOOTSTRAP</vt:lpstr>
      <vt:lpstr>Create web application responsive</vt:lpstr>
      <vt:lpstr>Bootstrap</vt:lpstr>
      <vt:lpstr>Bootstrap</vt:lpstr>
      <vt:lpstr>Exercise :</vt:lpstr>
      <vt:lpstr>PowerPoint Presentation</vt:lpstr>
      <vt:lpstr>GRID SYSTEM</vt:lpstr>
      <vt:lpstr>Grid Classes: Bootstrap grid system contains six classes (break points): </vt:lpstr>
      <vt:lpstr>Components of Grid System: </vt:lpstr>
      <vt:lpstr>Basic Grid Example </vt:lpstr>
      <vt:lpstr>Example 1: This example uses bootstrap to create an equal width column grid on all devices and screen widths.</vt:lpstr>
      <vt:lpstr>PowerPoint Presentation</vt:lpstr>
      <vt:lpstr>Column Sizing </vt:lpstr>
      <vt:lpstr>Responsive Columns (Breakpoints) </vt:lpstr>
      <vt:lpstr>Responsive Column Example:</vt:lpstr>
      <vt:lpstr>PowerPoint Presentation</vt:lpstr>
      <vt:lpstr>PowerPoint Presentation</vt:lpstr>
      <vt:lpstr>Nesting Columns -You use .row and .col-* classes inside another .row. </vt:lpstr>
      <vt:lpstr>Hiding Columns</vt:lpstr>
      <vt:lpstr>PowerPoint Presentation</vt:lpstr>
      <vt:lpstr>PowerPoint Presentation</vt:lpstr>
      <vt:lpstr>Grid system Summary</vt:lpstr>
      <vt:lpstr>Containers in Bootstrap with examples </vt:lpstr>
      <vt:lpstr>PowerPoint Presentation</vt:lpstr>
      <vt:lpstr>PowerPoint Presentation</vt:lpstr>
      <vt:lpstr>Navigation Bar </vt:lpstr>
      <vt:lpstr>Basic Navigation Bar</vt:lpstr>
      <vt:lpstr>PowerPoint Presentation</vt:lpstr>
      <vt:lpstr>PowerPoint Presentation</vt:lpstr>
      <vt:lpstr>PowerPoint Presentation</vt:lpstr>
      <vt:lpstr>Vertical Navbar</vt:lpstr>
      <vt:lpstr>Dropdown Navbar: The navbar can be created by using dropdown menu. </vt:lpstr>
      <vt:lpstr>Carousel</vt:lpstr>
      <vt:lpstr>Basics of Carousel</vt:lpstr>
      <vt:lpstr>PowerPoint Presentation</vt:lpstr>
      <vt:lpstr>Glyphicons (in older version) </vt:lpstr>
      <vt:lpstr>Tables </vt:lpstr>
      <vt:lpstr>Basics of table</vt:lpstr>
      <vt:lpstr>Table in bootstrap</vt:lpstr>
      <vt:lpstr>PowerPoint Presentation</vt:lpstr>
      <vt:lpstr>Images </vt:lpstr>
      <vt:lpstr>PowerPoint Presentation</vt:lpstr>
      <vt:lpstr>Forms </vt:lpstr>
      <vt:lpstr>Basics of Form</vt:lpstr>
      <vt:lpstr>PowerPoint Presentation</vt:lpstr>
      <vt:lpstr>Typography in Bootstrap</vt:lpstr>
      <vt:lpstr>Typography in Bootstrap</vt:lpstr>
      <vt:lpstr>Typography in Bootstrap</vt:lpstr>
      <vt:lpstr>Typography in Bootstrap</vt:lpstr>
      <vt:lpstr>Bootstrap text colors </vt:lpstr>
      <vt:lpstr>Background Colors – Background</vt:lpstr>
      <vt:lpstr>Border Colors</vt:lpstr>
      <vt:lpstr>text-opacity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Reshma Hussain</dc:creator>
  <cp:lastModifiedBy>student</cp:lastModifiedBy>
  <cp:revision>63</cp:revision>
  <dcterms:created xsi:type="dcterms:W3CDTF">2022-10-21T07:01:57Z</dcterms:created>
  <dcterms:modified xsi:type="dcterms:W3CDTF">2026-02-09T03:36:43Z</dcterms:modified>
</cp:coreProperties>
</file>